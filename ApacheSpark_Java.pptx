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73152" cy="5486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5" name="Shape 3"/>
          <p:cNvSpPr/>
          <p:nvPr/>
        </p:nvSpPr>
        <p:spPr>
          <a:xfrm>
            <a:off x="438912" y="256032"/>
            <a:ext cx="73152" cy="4572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329184"/>
            <a:ext cx="73152" cy="36576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402336"/>
            <a:ext cx="73152" cy="27432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Java Examples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27432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Technical Presentation  |  Unified Analytics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Processing  •  Scalable  •  Multi-Language  •  Production-Grade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Apache Spark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06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420624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is Apache Spark?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Unified analytics engine for large-scale data processing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Open-source, developed at UC Berkeley AMPLab (2009)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Written in Scala; supports Java, Python, R APIs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Up to 100x faster than Hadoop MapReduce (in-memory)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Batch, streaming, ML, and graph processing — all in 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4206240" cy="3200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8229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Spark?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In-memory computation eliminates disk I/O bottlenecks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Fault-tolerant via RDD lineage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Runs on YARN, Kubernetes, Mesos, Standalone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Rich ecosystem: SQL, Streaming, MLlib, GraphX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Active Apache Foundation community &amp; enterprise adoption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4224528"/>
            <a:ext cx="1920240" cy="74980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" y="4224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100×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Faster than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Hadoop 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04872" y="4224528"/>
            <a:ext cx="1920240" cy="74980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04872" y="4224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80%+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404872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Fortune 500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Companies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81144" y="4224528"/>
            <a:ext cx="1920240" cy="74980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81144" y="4224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30K+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81144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Community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Contributors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57416" y="4224528"/>
            <a:ext cx="1920240" cy="74980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57416" y="4224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3000+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57416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Companies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Worldwide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Timeline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788920"/>
            <a:ext cx="8412480" cy="6400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633472"/>
            <a:ext cx="219456" cy="219456"/>
          </a:xfrm>
          <a:prstGeom prst="ellipse">
            <a:avLst/>
          </a:prstGeom>
          <a:solidFill>
            <a:srgbClr val="1B3A5C"/>
          </a:solidFill>
          <a:ln w="25400">
            <a:solidFill>
              <a:srgbClr val="E852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1920240"/>
            <a:ext cx="0" cy="713232"/>
          </a:xfrm>
          <a:prstGeom prst="line">
            <a:avLst/>
          </a:prstGeom>
          <a:noFill/>
          <a:ln w="12700">
            <a:solidFill>
              <a:srgbClr val="7A8FA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1188720"/>
            <a:ext cx="1188720" cy="65836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188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2009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4356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AMPLab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Origins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42616" y="2633472"/>
            <a:ext cx="219456" cy="219456"/>
          </a:xfrm>
          <a:prstGeom prst="ellipse">
            <a:avLst/>
          </a:prstGeom>
          <a:solidFill>
            <a:srgbClr val="1B3A5C"/>
          </a:solidFill>
          <a:ln w="25400">
            <a:solidFill>
              <a:srgbClr val="E852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52344" y="2852928"/>
            <a:ext cx="0" cy="713232"/>
          </a:xfrm>
          <a:prstGeom prst="line">
            <a:avLst/>
          </a:prstGeom>
          <a:noFill/>
          <a:ln w="12700">
            <a:solidFill>
              <a:srgbClr val="7A8F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231136" y="3657600"/>
            <a:ext cx="1188720" cy="65836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31136" y="3657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2012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31136" y="39044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RDD Paper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Published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25112" y="2633472"/>
            <a:ext cx="219456" cy="219456"/>
          </a:xfrm>
          <a:prstGeom prst="ellipse">
            <a:avLst/>
          </a:prstGeom>
          <a:solidFill>
            <a:srgbClr val="1B3A5C"/>
          </a:solidFill>
          <a:ln w="25400">
            <a:solidFill>
              <a:srgbClr val="E852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1920240"/>
            <a:ext cx="0" cy="713232"/>
          </a:xfrm>
          <a:prstGeom prst="line">
            <a:avLst/>
          </a:prstGeom>
          <a:noFill/>
          <a:ln w="12700">
            <a:solidFill>
              <a:srgbClr val="7A8F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913632" y="1188720"/>
            <a:ext cx="1188720" cy="65836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13632" y="1188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2014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13632" y="14356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Apache Top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Level Project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07608" y="2633472"/>
            <a:ext cx="219456" cy="219456"/>
          </a:xfrm>
          <a:prstGeom prst="ellipse">
            <a:avLst/>
          </a:prstGeom>
          <a:solidFill>
            <a:srgbClr val="1B3A5C"/>
          </a:solidFill>
          <a:ln w="25400">
            <a:solidFill>
              <a:srgbClr val="E852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17336" y="2852928"/>
            <a:ext cx="0" cy="713232"/>
          </a:xfrm>
          <a:prstGeom prst="line">
            <a:avLst/>
          </a:prstGeom>
          <a:noFill/>
          <a:ln w="12700">
            <a:solidFill>
              <a:srgbClr val="7A8FA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596128" y="3657600"/>
            <a:ext cx="1188720" cy="65836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96128" y="3657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2016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96128" y="39044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Spark 2.0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Dataset API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90104" y="2633472"/>
            <a:ext cx="219456" cy="219456"/>
          </a:xfrm>
          <a:prstGeom prst="ellipse">
            <a:avLst/>
          </a:prstGeom>
          <a:solidFill>
            <a:srgbClr val="1B3A5C"/>
          </a:solidFill>
          <a:ln w="25400">
            <a:solidFill>
              <a:srgbClr val="E852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99832" y="1920240"/>
            <a:ext cx="0" cy="713232"/>
          </a:xfrm>
          <a:prstGeom prst="line">
            <a:avLst/>
          </a:prstGeom>
          <a:noFill/>
          <a:ln w="12700">
            <a:solidFill>
              <a:srgbClr val="7A8FA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278624" y="1188720"/>
            <a:ext cx="1188720" cy="65836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78624" y="1188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2020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78624" y="14356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Spark 3.0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Adaptive Query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372600" y="2633472"/>
            <a:ext cx="219456" cy="219456"/>
          </a:xfrm>
          <a:prstGeom prst="ellipse">
            <a:avLst/>
          </a:prstGeom>
          <a:solidFill>
            <a:srgbClr val="1B3A5C"/>
          </a:solidFill>
          <a:ln w="25400">
            <a:solidFill>
              <a:srgbClr val="E852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82328" y="2852928"/>
            <a:ext cx="0" cy="713232"/>
          </a:xfrm>
          <a:prstGeom prst="line">
            <a:avLst/>
          </a:prstGeom>
          <a:noFill/>
          <a:ln w="12700">
            <a:solidFill>
              <a:srgbClr val="7A8FA6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961120" y="3657600"/>
            <a:ext cx="1188720" cy="65836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961120" y="3657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2023+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961120" y="39044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Spark 3.4+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Connect API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777240"/>
            <a:ext cx="2743200" cy="9144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DRIVER PROGRAM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1155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SparkContext / SparkSession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DAG Scheduler  |  Task Scheduler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2286000" cy="822960"/>
          </a:xfrm>
          <a:prstGeom prst="rect">
            <a:avLst/>
          </a:prstGeom>
          <a:solidFill>
            <a:srgbClr val="E852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822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CLUSTER MANAGER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YARN / Kubernetes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Standalone / Mesos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234440"/>
            <a:ext cx="640080" cy="0"/>
          </a:xfrm>
          <a:prstGeom prst="line">
            <a:avLst/>
          </a:prstGeom>
          <a:noFill/>
          <a:ln w="19050">
            <a:solidFill>
              <a:srgbClr val="7A8F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48840"/>
            <a:ext cx="2560320" cy="2606040"/>
          </a:xfrm>
          <a:prstGeom prst="rect">
            <a:avLst/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48840"/>
            <a:ext cx="256032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Executor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78608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786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Task A  |  Cache / Memory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218688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18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Task B  |  Cache / Memory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858768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58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Task C  |  Cache / Memory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1691640"/>
            <a:ext cx="0" cy="457200"/>
          </a:xfrm>
          <a:prstGeom prst="line">
            <a:avLst/>
          </a:prstGeom>
          <a:noFill/>
          <a:ln w="19050">
            <a:solidFill>
              <a:srgbClr val="E852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148840"/>
            <a:ext cx="2560320" cy="2606040"/>
          </a:xfrm>
          <a:prstGeom prst="rect">
            <a:avLst/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148840"/>
            <a:ext cx="25603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Executor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2578608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5786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Task A  |  Cache / Memory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37560" y="3218688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218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Task B  |  Cache / Memory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3858768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858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Task C  |  Cache / Memory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80560" y="1691640"/>
            <a:ext cx="0" cy="457200"/>
          </a:xfrm>
          <a:prstGeom prst="line">
            <a:avLst/>
          </a:prstGeom>
          <a:noFill/>
          <a:ln w="19050">
            <a:solidFill>
              <a:srgbClr val="E852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148840"/>
            <a:ext cx="2560320" cy="2606040"/>
          </a:xfrm>
          <a:prstGeom prst="rect">
            <a:avLst/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2148840"/>
            <a:ext cx="256032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Executor 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2578608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5786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Task A  |  Cache / Memory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3218688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218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Task B  |  Cache / Memory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63640" y="3858768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858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Task C  |  Cache / Memory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06640" y="1691640"/>
            <a:ext cx="0" cy="457200"/>
          </a:xfrm>
          <a:prstGeom prst="line">
            <a:avLst/>
          </a:prstGeom>
          <a:noFill/>
          <a:ln w="19050">
            <a:solidFill>
              <a:srgbClr val="E852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FA6"/>
                </a:solidFill>
              </a:rPr>
              <a:t>Driver orchestrates; Executors run tasks in parallel across the cluster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Ecosystem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914400"/>
            <a:ext cx="2743200" cy="822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Spark Core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261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RDDs  |  Task Scheduling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Memory Mgmt  |  I/O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2103120"/>
            <a:ext cx="2103120" cy="2423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2103120"/>
            <a:ext cx="210312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Spark SQL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514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Structured data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DataFrame / Dataset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Hive compatibility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34440" y="1737360"/>
            <a:ext cx="0" cy="36576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331720" y="2103120"/>
            <a:ext cx="2103120" cy="2423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31720" y="2103120"/>
            <a:ext cx="21031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33172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Structured Streaming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2514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Real-time streams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Micro-batch engine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Event-time windows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1737360"/>
            <a:ext cx="0" cy="36576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480560" y="2103120"/>
            <a:ext cx="2103120" cy="2423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2103120"/>
            <a:ext cx="21031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MLlib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514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Machine Learning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Classification, Regression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Clustering, Pipelines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32120" y="1737360"/>
            <a:ext cx="0" cy="36576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629400" y="2103120"/>
            <a:ext cx="2103120" cy="2423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9400" y="2103120"/>
            <a:ext cx="2103120" cy="36576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GraphX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2514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Graph analytics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PageRank, Connected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Components, Pregel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0" y="1737360"/>
            <a:ext cx="0" cy="365760"/>
          </a:xfrm>
          <a:prstGeom prst="line">
            <a:avLst/>
          </a:prstGeom>
          <a:noFill/>
          <a:ln w="19050">
            <a:solidFill>
              <a:srgbClr val="E8521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FA6"/>
                </a:solidFill>
              </a:rPr>
              <a:t>All components run on Spark Core and share the same engine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1097280" cy="10972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0467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RDD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89611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Resilient Distributed Dataset – immutable, fault-tolerant, distributed collection of elements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1097280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80467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0" y="89611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Directed Acyclic Graph – logical execution plan representing transformations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084832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084832"/>
            <a:ext cx="1097280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0848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Job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17627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 complete action triggered by calling an action (e.g., collect(), count())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084832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084832"/>
            <a:ext cx="1097280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0848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52160" y="217627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Subdivision of a Job; stages are separated by shuffle boundaries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364992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364992"/>
            <a:ext cx="1097280" cy="1097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336499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Task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34564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Smallest unit of work; one task per partition, executed on an executor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364992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364992"/>
            <a:ext cx="1097280" cy="10972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36499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Partition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52160" y="345643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Logical chunk of distributed data; parallelism = number of partitions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Abstractions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– Resilient Distributed Dataset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4114800" cy="3200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Characteristics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Immutable: once created, cannot be changed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Distributed: partitioned across cluster nodes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Resilient: rebuilt from lineage on failure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Lazy: transformations not executed until action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Type-safe in Scala/Java; untyped in 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3434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22960"/>
            <a:ext cx="434340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22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Creating RDDs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8872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Parallelizing an existing Java collection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Reading from external storage (HDFS, S3, local)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Transforming an existing RDD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sc.parallelize(list) — in-memory collection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sc.textFile(path) — from file system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3657600"/>
            <a:ext cx="8686800" cy="1344168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657600"/>
            <a:ext cx="640080" cy="20116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36576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JAVA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3886200"/>
            <a:ext cx="8412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JavaSparkContext sc = new JavaSparkContext(conf);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From collection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JavaRDD&lt;Integer&gt; rdd1 = sc.parallelize(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Arrays.asList(1, 2, 3, 4, 5));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From 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rdd2 = sc.textFile("hdfs://data.txt");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System.out.println("Partitions: " + rdd1.getNumPartitions());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– Structured Data Abstraction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411480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Distributed collection of rows with named columns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Schema-aware — knows column names and types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Optimized via Catalyst query optimizer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No compile-time type safety (unlike Dataset)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Best for structured/semi-structured data (CSV, JSON, Parquet)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3434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22960"/>
            <a:ext cx="43434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22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Benefits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88720"/>
            <a:ext cx="4160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Catalyst optimizer generates efficient execution plans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Tungsten engine: code-gen, off-heap memory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Interoperates with Spark SQL seamlessly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Supports complex nested structures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Available in Java, Scala, Python, 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3337560"/>
            <a:ext cx="8686800" cy="1600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337560"/>
            <a:ext cx="640080" cy="20116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33375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JAVA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35661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df = spark.read()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.option("header", 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.option("inferSchema", 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.csv("employees.csv");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df.printSchema();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df.select("name", "salary")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.filter(col("salary").gt(50000))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.show();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– Typed Distributed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411480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Strongly-typed extension of DataFrame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Compile-time type safety in Java/Scala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Encoder-based serialization (not Java serialization)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Combines benefits of RDD and DataFrame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Best of both: type-safety + optimization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343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22960"/>
            <a:ext cx="4343400" cy="3200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22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When to Use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887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Complex domain objects needing type-safety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ETL pipelines with known schema at compile 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Machine learning feature engineering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When IDE auto-complete and refactoring matter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Java/Scala codebases requiring OOP patterns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3246120"/>
            <a:ext cx="8686800" cy="1709928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246120"/>
            <a:ext cx="640080" cy="20116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3246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JAVA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3474720"/>
            <a:ext cx="8412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Define a Java Bean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Employee implements Serializable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name;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salary;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getters and setters...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Encoder&lt;Employee&gt; encoder = Encoders.bean(Employee.class);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empDS = spark.read()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.json("employees.json")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.as(encoder);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empDS.filter(e -&gt; e.getSalary() &gt; 50000).show();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vs DataFrame vs Dataset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16052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377440"/>
                <a:gridCol w="23774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RDD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DataFrame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Type Safety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 (generic)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 (Row)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 (typed)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Schema Aware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Catalyst Optimizer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Tungsten Engine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API Style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Functional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SQL-like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OOP + SQL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Best For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Low-level ops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Custom processing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SQL queries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BI / Analytics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Type-safe ETL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Domain objects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Java 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 (Encoders)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Performance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Spark in Java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Spark in Java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1480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Maven Dependency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&lt;dependency&gt;  org.apache.spark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  spark-core_2.12  version 3.4.0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  spark-sql_2.12   version 3.4.0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&lt;/dependency&gt;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3434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04672"/>
            <a:ext cx="4343400" cy="3200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SparkSession vs SparkContext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7043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SparkSession: unified entry point (Spark 2.0+)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SparkContext: low-level, for RDD operations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SparkSession wraps SparkContext internally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Use SparkSession for all new development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395728"/>
            <a:ext cx="8686800" cy="2542032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395728"/>
            <a:ext cx="640080" cy="20116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3957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JAVA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624328"/>
            <a:ext cx="841248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org.apache.spark.sql.SparkSession;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org.apache.spark.api.java.JavaSparkContext;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SparkSession (recommended entry point)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SparkSession spark = SparkSession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.appName("Simple App")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.master("local[*]")   // local[*] = all available cores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.config("spark.sql.shuffle.partitions", "4")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.getOrCreate();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JavaSparkContext from session (for RDD operations)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JavaSparkContext sc = JavaSparkContext.fromSparkContext(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spark.sparkContext());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stop at the 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spark.stop();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Actions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(Lazy Operations)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128016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04672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8961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Apply a function to each element → returns new RDD of same size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1280160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804672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8961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Keep only elements matching a condition → smaller RDD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99339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993392"/>
            <a:ext cx="128016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1993392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flatMap()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208483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Map + flatten → each element can produce 0 or more outputs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99339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993392"/>
            <a:ext cx="1280160" cy="10058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993392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208483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Remove duplicate elements from the RDD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8211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182112"/>
            <a:ext cx="128016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3182112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groupByKey()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327355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Group values by key (PairRDD) — may cause shuffle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18211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182112"/>
            <a:ext cx="1280160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182112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reduceByKey()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327355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Aggregate values per key — more efficient than groupByKey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521A"/>
                </a:solidFill>
              </a:rPr>
              <a:t>⚡ Transformations build a DAG — execution deferred until an Action is triggered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(Trigger Execution)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1463040" cy="10058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0467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8961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Returns all elements to driver as Java List — use carefully on large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146304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80467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8961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Returns the number of elements in the RDD as a long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99339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993392"/>
            <a:ext cx="1463040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199339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208483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Aggregate all elements using an associative binary function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99339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993392"/>
            <a:ext cx="146304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99339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first()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08483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Returns the first element of the RDD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8211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182112"/>
            <a:ext cx="146304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318211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take(n)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37360" y="327355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Returns the first n elements as a List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18211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182112"/>
            <a:ext cx="1463040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182112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saveAsTextFile()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27355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Write RDD elements to a text file on disk / HDFS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🚀 Actions trigger the DAG execution — results returned to driver or written to storage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Code Example – Transformations &amp; Actions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411480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This Code Does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Creates RDD from Java List using parallelize()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Applies map() to square each element (lazy)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filter() keeps only values &gt; 5 (lazy)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collect() triggers execution and returns results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3434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22960"/>
            <a:ext cx="4343400" cy="3200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22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887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squares.collect()  → [1, 4, 9, 16]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filtered.collect() → [9, 16]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sum.reduce()       → 30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count              → 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240280"/>
            <a:ext cx="8686800" cy="2697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240280"/>
            <a:ext cx="640080" cy="20116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240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JAVA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JavaRDD&lt;Integer&gt; numbers = sc.parallelize(Arrays.asList(1, 2, 3, 4));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Transformation: square each element (LAZY — not executed yet)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JavaRDD&lt;Integer&gt; squares = numbers.map(x -&gt; x * x);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Transformation: keep only squares &gt; 5 (LAZY)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JavaRDD&lt;Integer&gt; filtered = squares.filter(x -&gt; x &gt; 5);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ACTION: collect() triggers actual execution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System.out.println(squares.collect());   // [1, 4, 9, 16]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System.out.println(filtered.collect());  // [9, 16]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ACTION: reduce to sum all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numbers.reduce((a, b) -&gt; a + b);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System.out.println("Sum: " + total);     // Sum: 10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Internals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1463040" cy="10058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144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Transformation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map()/filter()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2011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Records in DAG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Not executed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91640" y="1417320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914400"/>
            <a:ext cx="1463040" cy="10058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9144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Transformation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flatMap()/join()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2011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Added to DAG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Not executed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0" y="1417320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914400"/>
            <a:ext cx="1463040" cy="1005840"/>
          </a:xfrm>
          <a:prstGeom prst="rect">
            <a:avLst/>
          </a:prstGeom>
          <a:solidFill>
            <a:srgbClr val="E852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3320" y="9144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collect()/count()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2011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Triggers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execution!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66360" y="1417320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914400"/>
            <a:ext cx="1463040" cy="100584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40680" y="9144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Scheduler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0680" y="2011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Optimizes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execution plan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417320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914400"/>
            <a:ext cx="1463040" cy="10058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78040" y="9144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Tasks sent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 Executors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2011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Parallel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</a:rPr>
              <a:t>computation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834640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834640"/>
            <a:ext cx="411480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8346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Benefits of Lazy Evaluation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32004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Spark can optimize the entire pipeline before execution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Unnecessary computations are eliminated automatically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Pipelining: multiple operations combined into one pass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Reduces number of passes over the 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834640"/>
            <a:ext cx="43434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834640"/>
            <a:ext cx="434340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834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Optimization Examples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3200400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filter pushed before map → fewer elements to process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Redundant transformations eliminated by Catalyst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Join reordering for smaller intermediate datasets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Predicate pushdown to data source (Parquet, ORC)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– Directed Acyclic Graph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38404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384048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DAG Works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Each transformation creates a new node in the DAG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Edges represent data flow between transformations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DAG Scheduler splits DAG into stages at shuffle boundaries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Within a stage: pipelined without writing to disk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Stages contain tasks — one per partition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Failed tasks are re-executed using RDD lineage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No cycles: each node computed only once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914400"/>
            <a:ext cx="1554480" cy="68580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0" y="914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textFile()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RDD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0" y="1828800"/>
            <a:ext cx="1554480" cy="68580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0" y="18288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flatMap()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0" y="2743200"/>
            <a:ext cx="1554480" cy="685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mapToPair()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counts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0" y="2743200"/>
            <a:ext cx="1554480" cy="685800"/>
          </a:xfrm>
          <a:prstGeom prst="ellipse">
            <a:avLst/>
          </a:prstGeom>
          <a:solidFill>
            <a:srgbClr val="E852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0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reduceByKey()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aggregated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1554480" cy="685800"/>
          </a:xfrm>
          <a:prstGeom prst="ellipse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37490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collect()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1600200"/>
            <a:ext cx="0" cy="22860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2514600"/>
            <a:ext cx="0" cy="22860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3090672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3429000"/>
            <a:ext cx="0" cy="32004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804672"/>
            <a:ext cx="228600" cy="2103120"/>
          </a:xfrm>
          <a:prstGeom prst="rect">
            <a:avLst/>
          </a:prstGeom>
          <a:solidFill>
            <a:srgbClr val="B2EEF4"/>
          </a:solidFill>
          <a:ln/>
        </p:spPr>
      </p:sp>
      <p:sp>
        <p:nvSpPr>
          <p:cNvPr id="24" name="Text 22"/>
          <p:cNvSpPr/>
          <p:nvPr/>
        </p:nvSpPr>
        <p:spPr>
          <a:xfrm rot="16200000">
            <a:off x="5047488" y="15544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Stage 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029200" y="2926080"/>
            <a:ext cx="228600" cy="1097280"/>
          </a:xfrm>
          <a:prstGeom prst="rect">
            <a:avLst/>
          </a:prstGeom>
          <a:solidFill>
            <a:srgbClr val="FCDAB8"/>
          </a:solidFill>
          <a:ln/>
        </p:spPr>
      </p:sp>
      <p:sp>
        <p:nvSpPr>
          <p:cNvPr id="26" name="Text 24"/>
          <p:cNvSpPr/>
          <p:nvPr/>
        </p:nvSpPr>
        <p:spPr>
          <a:xfrm rot="16200000">
            <a:off x="5047488" y="32918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521A"/>
                </a:solidFill>
              </a:rPr>
              <a:t>Stage 2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Execution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1325880" cy="96012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82296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(Java App)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1874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SparkSession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created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307592"/>
            <a:ext cx="1371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822960"/>
            <a:ext cx="1325880" cy="9601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82296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SparkContext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(Driver)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1874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Submits job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to scheduler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71800" y="1307592"/>
            <a:ext cx="1371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822960"/>
            <a:ext cx="1325880" cy="9601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08960" y="82296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Scheduler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1874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Splits into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stages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34840" y="1307592"/>
            <a:ext cx="1371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822960"/>
            <a:ext cx="1325880" cy="9601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82296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Scheduler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1874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Assigns tasks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to executors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97880" y="1307592"/>
            <a:ext cx="1371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822960"/>
            <a:ext cx="1325880" cy="960120"/>
          </a:xfrm>
          <a:prstGeom prst="rect">
            <a:avLst/>
          </a:prstGeom>
          <a:solidFill>
            <a:srgbClr val="E852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35040" y="82296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Executor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(Worker)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1874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Runs tasks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on partitions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60920" y="1307592"/>
            <a:ext cx="1371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822960"/>
            <a:ext cx="1325880" cy="9601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82296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Result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Driver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1874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Action returns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result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606040"/>
            <a:ext cx="8686800" cy="2331720"/>
          </a:xfrm>
          <a:prstGeom prst="rect">
            <a:avLst/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" y="2651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Execution Breakdown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01752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017520"/>
            <a:ext cx="192024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Triggered by one action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5570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Contains multiple stages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0" y="301752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0" y="3017520"/>
            <a:ext cx="1920240" cy="2743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7" name="Text 35"/>
          <p:cNvSpPr/>
          <p:nvPr/>
        </p:nvSpPr>
        <p:spPr>
          <a:xfrm>
            <a:off x="25603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51760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Group of tasks (no shuffle)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51760" y="35570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Parallel within stage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01752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017520"/>
            <a:ext cx="192024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One per partition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35570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Runs on single executor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49440" y="3017520"/>
            <a:ext cx="1920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949440" y="3017520"/>
            <a:ext cx="192024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694944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Partition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040880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Chunk of data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40880" y="35570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Processed by one task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Optimization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Caching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14800" cy="3200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Cache?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Avoids recomputing expensive transformations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Critical for iterative ML algorithms (multiple passes)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Improves interactive queries significantly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RDD lineage still intact — fault tolerance preserved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3434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04672"/>
            <a:ext cx="434340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Storage Levels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70432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MEMORY_ONLY — default; deserialized in JVM heap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MEMORY_AND_DISK — spills to disk if memory full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MEMORY_ONLY_SER — serialized; less memory, more CPU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DISK_ONLY — stored only on disk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OFF_HEAP — Tungsten off-heap memory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743200"/>
            <a:ext cx="8686800" cy="2258568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743200"/>
            <a:ext cx="640080" cy="20116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7432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JAVA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84124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org.apache.spark.storage.StorageLevel;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data = sc.textFile("large_file.txt");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cache() = MEMORY_ONLY storage level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data.cache();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 specify storage level explicitly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data.persist(StorageLevel.MEMORY_AND_DISK());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count1 = data.count(); // First action: computed + cached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count2 = data.count(); // Second action: served from cache (fast!)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 from cache when no longer needed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data.unpersist();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in Spark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1480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Concepts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Partition = unit of parallelism; one task per partition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Default partitions = number of HDFS blocks or cores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Too few partitions → underutilize cluster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Too many partitions → excessive task overhead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Rule of thumb: 2-4× number of executor cores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3434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04672"/>
            <a:ext cx="43434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Partitioning Strategies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70432"/>
            <a:ext cx="4160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HashPartitioner: default for PairRDDs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RangePartitioner: sorted data, good for joins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Custom Partitioner: implement Partitioner class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coalesce(): reduce partitions (no full shuffle)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repartition(): increase/decrease with shuffle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3319272"/>
            <a:ext cx="8686800" cy="1627632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319272"/>
            <a:ext cx="640080" cy="20116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33192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JAVA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3547872"/>
            <a:ext cx="84124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 current partitions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parts = rdd.getNumPartitions();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Repartition (full shuffle — use to increase partitions)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repartitioned = data.repartition(100);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Coalesce (no shuffle — use to reduce partitions)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coalesced = data.coalesce(10);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 partitioner for PairRDD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JavaPairRDD&lt;String,Integer&gt; partitioned = pairRdd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.partitionBy(new HashPartitioner(20));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Variables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Accumulators &amp; Broadcast Variables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14800" cy="3200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Accumulators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Write-only variables for workers; read only by driver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Used for counters, sums across distributed tasks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Fault-tolerant: guaranteed only in 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Custom accumulators by extending AccumulatorV2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3434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04672"/>
            <a:ext cx="434340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Broadcast Variables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70432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Read-only shared variables sent to all nodes once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Efficient for lookup tables, dictionaries, ML models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Avoids shipping the variable with every task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Stored in each executor's memory efficiently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743200"/>
            <a:ext cx="8686800" cy="2258568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743200"/>
            <a:ext cx="640080" cy="20116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7432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JAVA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84124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Accumulator 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LongAccumulator errorCount = sc.sc().longAccumulator("errors");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data.foreach(line -&gt;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(line.contains("ERROR")) errorCount.add(1);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System.out.println("Errors found: " + errorCount.value());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Broadcast Variable 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lookupList = Arrays.asList(1, 2, 3, 100, 200);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Broadcast&lt;List&lt;Integer&gt;&gt; broadcastVar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sc.broadcast(lookupList);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JavaRDD&lt;Integer&gt; filtered = numbers.filter(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-&gt; broadcastVar.value().contains(n));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&amp; Data Operations</a:t>
            </a:r>
            <a:endParaRPr 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Joins in Spark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137160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0467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8961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Only matching rows from both datasets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137160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80467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left_outer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8961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All rows from left + matched from right (null if no match)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901952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901952"/>
            <a:ext cx="13716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190195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right_outer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19933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All rows from right + matched from left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901952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901952"/>
            <a:ext cx="1371600" cy="9144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90195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full_outer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19933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All rows from both; null where no match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999232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999232"/>
            <a:ext cx="13716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29992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left_semi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0" y="30906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Only left rows where match exists in right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999232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99232"/>
            <a:ext cx="1371600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9992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30906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Cartesian product of both datasets (use with caution!)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4315968"/>
            <a:ext cx="8686800" cy="7315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4315968"/>
            <a:ext cx="640080" cy="20116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" y="4315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JAVA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65760" y="45445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joined = df1.join(df2,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df1.col("id").equalTo(df2.col("id")), "inner");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leftJoined = df1.join(df2,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df1.col("dept_id").equalTo(df2.col("id")), "left_outer");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3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 via Lineage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1480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Lineage Works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Every RDD remembers how it was built (lineage graph)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On partition loss, Spark re-computes from parent RDD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No need for expensive data replication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Checkpointing available for very long lineage chains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Works across node failures transparently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3434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04672"/>
            <a:ext cx="4343400" cy="3200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Recovery Process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70432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1. Executor dies → Cluster Manager detects failure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2. Driver reschedules lost tasks on healthy nodes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3. Lost partitions recomputed from lineage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4. Results merged with already-completed tasks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5. Job continues — user code unaffected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3063240"/>
            <a:ext cx="8686800" cy="1920240"/>
          </a:xfrm>
          <a:prstGeom prst="rect">
            <a:avLst/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Lineage Example: Word Count Recovery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1417320" cy="7772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4747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textFile()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83080" y="3858768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0240" y="3474720"/>
            <a:ext cx="1417320" cy="7772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20240" y="34747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flatMap()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3858768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3474720"/>
            <a:ext cx="1417320" cy="7772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34747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mapToPair()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3858768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3474720"/>
            <a:ext cx="1417320" cy="7772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34747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reduceByKey()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⚠️ LOST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46520" y="3858768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3474720"/>
            <a:ext cx="1417320" cy="777240"/>
          </a:xfrm>
          <a:prstGeom prst="rect">
            <a:avLst/>
          </a:prstGeom>
          <a:solidFill>
            <a:srgbClr val="E852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0" y="34747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Recomputed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from parent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14800" cy="34747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80467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Avoid Shuffle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207008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Use reduceByKey over groupByKey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Broadcast joins for small tables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Minimize data movement across nodes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80467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Skew Handling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8888" y="1207008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Salting keys to distribute hot keys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Adaptive Query Execution (AQE)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Skew join hints in Spark 3.x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81635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816352"/>
            <a:ext cx="41148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" y="281635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Broadcast Join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" y="3218688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For small tables (&lt; 10 MB default)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spark.sql.autoBroadcastJoinThreshold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Eliminates shuffle on join entirely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81635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16352"/>
            <a:ext cx="41148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818888" y="281635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Practices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3218688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Use Parquet/ORC columnar formats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Predicate pushdown at source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Cache frequently reused RDDs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Topics</a:t>
            </a:r>
            <a:endParaRPr lang="en-US" sz="3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&amp; Structured Streaming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1480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Spark SQL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Run SQL queries directly on DataFrames / Datasets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ANSI SQL + HiveQL support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Catalog, views, UDFs, window functions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Catalyst optimizer and Tungsten execution engine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3434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04672"/>
            <a:ext cx="434340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Structured Streaming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70432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Treat live data stream as unbounded table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Same DataFrame API for batch and streaming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Micro-batch and continuous processing modes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Exactly-once semantics with checkpointing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743200"/>
            <a:ext cx="8686800" cy="2258568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743200"/>
            <a:ext cx="640080" cy="20116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7432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JAVA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84124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Spark SQL Example 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df = spark.read().json("data.json");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df.createOrReplaceTempView("people");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result = spark.sql(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"SELECT name, age FROM people WHERE age &gt; 21 ORDER BY age");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result.show();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Structured Streaming 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stream = spark.readStream()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.format("kafka")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.option("kafka.bootstrap.servers", "host:9092")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.option("subscribe", "events")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.load();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stream.writeStream().outputMode("append")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.format("console").start().awaitTermination();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in Spark SQL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14800" cy="3200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are Window Functions?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Perform calculations across a set of table rows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Unlike aggregate: retains all original rows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Partitioned and ordered within the window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Ranking, cumulative sums, moving averages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3434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04672"/>
            <a:ext cx="434340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Common Window Functions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70432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row_number() — unique row rank in partition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rank() / dense_rank() — ranking with/without gaps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lag() / lead() — previous/next row value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sum() / avg() over window — running aggregates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670048"/>
            <a:ext cx="8686800" cy="2304288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670048"/>
            <a:ext cx="640080" cy="20116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6700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JAVA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898648"/>
            <a:ext cx="84124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static org.apache.spark.sql.functions.*;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org.apache.spark.sql.expressions.Window;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org.apache.spark.sql.expressions.WindowSpec;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Define window: partition by dept, order by salary desc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WindowSpec window = Window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.partitionBy("department")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.orderBy(col("salary").desc());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ranked = df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.withColumn("rank",      rank().over(window))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.withColumn("row_num",   row_number().over(window))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.withColumn("prev_salary", lag("salary", 1).over(window))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.withColumn("running_avg", avg("salary").over(window));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ranked.show();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Deployment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with Hadoop &amp; Cluster Managers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04672"/>
            <a:ext cx="201168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804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Standalone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Spark's own cluster manager. Easy to set up, ideal for dev/small prod.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95728" y="804672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95728" y="804672"/>
            <a:ext cx="201168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395728" y="804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YARN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87168" y="120700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Hadoop resource manager. Best for shared Hadoop clusters with HDFS.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08576" y="804672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804672"/>
            <a:ext cx="2011680" cy="36576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4608576" y="804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Kubernetes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0016" y="120700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Container-native. Cloud-friendly, elastic scaling, microservice arch.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21424" y="804672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21424" y="804672"/>
            <a:ext cx="201168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821424" y="804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Mesos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12864" y="120700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General cluster manager. Fine-grained resource sharing (less common).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2743200"/>
            <a:ext cx="8686800" cy="2240280"/>
          </a:xfrm>
          <a:prstGeom prst="rect">
            <a:avLst/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Deployment Modes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154680"/>
            <a:ext cx="4023360" cy="3200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 Mode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5204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5C"/>
                </a:solidFill>
              </a:rPr>
              <a:t>Driver runs on submitting machine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5C"/>
                </a:solidFill>
              </a:rPr>
              <a:t>Interactive; output visible directly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5C"/>
                </a:solidFill>
              </a:rPr>
              <a:t>Use: spark-shell, Jupyter notebooks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15468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154680"/>
            <a:ext cx="402336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Cluster Mode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5204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5C"/>
                </a:solidFill>
              </a:rPr>
              <a:t>Driver runs inside cluster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5C"/>
                </a:solidFill>
              </a:rPr>
              <a:t>Machine can disconnect after submit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5C"/>
                </a:solidFill>
              </a:rPr>
              <a:t>Use: production batch jobs, fire-and-forget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vs Hadoop MapReduce</a:t>
            </a:r>
            <a:endParaRPr lang="en-US" sz="2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20624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34747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Apache Spark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Hadoop MapReduce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FA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Speed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5C3A"/>
                          </a:solidFill>
                        </a:rPr>
                        <a:t>Up to 100× faster (in-memory)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Slow (disk-based I/O)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Processing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5C3A"/>
                          </a:solidFill>
                        </a:rPr>
                        <a:t>Batch + Streaming + ML + Graph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Batch only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Ease of Use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5C3A"/>
                          </a:solidFill>
                        </a:rPr>
                        <a:t>High-level APIs (Java, Scala, Python)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Complex Java boilerplate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Data Model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5C3A"/>
                          </a:solidFill>
                        </a:rPr>
                        <a:t>RDD / DataFrame / Dataset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Key-Value pairs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Iterative Jobs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5C3A"/>
                          </a:solidFill>
                        </a:rPr>
                        <a:t>Excellent (cache in memory)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Poor (re-reads disk each iter)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Fault Tolerance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5C3A"/>
                          </a:solidFill>
                        </a:rPr>
                        <a:t>RDD Lineage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HDFS replication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Language 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5C3A"/>
                          </a:solidFill>
                        </a:rPr>
                        <a:t>Java, Scala, Python, 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Primarily Java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Ecosystem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5C3A"/>
                          </a:solidFill>
                        </a:rPr>
                        <a:t>SQL, Stream, ML, Graph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Limited (requires extra tools)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Cost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5C3A"/>
                          </a:solidFill>
                        </a:rPr>
                        <a:t>Higher RAM requirement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Disk-heavy; cheaper per TB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2743200" cy="38404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046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Netflix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21A"/>
                </a:solidFill>
              </a:rPr>
              <a:t>Recommendation Engine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ML pipelines process viewing history to personalize recommendations for 230M+ users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82112" y="8046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804672"/>
            <a:ext cx="27432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3182112" y="8046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Uber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73552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Surge Pricing &amp; Analytics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73552" y="15361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Real-time stream processing for dynamic pricing and fraud detection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35624" y="8046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804672"/>
            <a:ext cx="2743200" cy="38404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135624" y="8046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Airbnb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27064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Data Platform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27064" y="15361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Petabyte-scale ETL pipelines, pricing optimization, search ranking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8620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862072"/>
            <a:ext cx="2743200" cy="384048"/>
          </a:xfrm>
          <a:prstGeom prst="rect">
            <a:avLst/>
          </a:prstGeom>
          <a:solidFill>
            <a:srgbClr val="0077B5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28620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LinkedIn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5"/>
                </a:solidFill>
              </a:rPr>
              <a:t>Graph Analytics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35935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People You May Know — graph algorithms on 900M+ member network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82112" y="28620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82112" y="2862072"/>
            <a:ext cx="274320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182112" y="28620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JPMorgan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73552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Risk Analytics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73552" y="35935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Real-time risk calculations on trillions in daily transactions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35624" y="286207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35624" y="2862072"/>
            <a:ext cx="2743200" cy="384048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2" name="Text 30"/>
          <p:cNvSpPr/>
          <p:nvPr/>
        </p:nvSpPr>
        <p:spPr>
          <a:xfrm>
            <a:off x="6135624" y="28620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NASA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27064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</a:rPr>
              <a:t>Climate Data Analysis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27064" y="35935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Processing satellite data — petabytes of climate/weather data analyzed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 of Spark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822960" cy="118872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04672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877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21A"/>
                </a:solidFill>
              </a:rPr>
              <a:t>Memory Intensive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In-memory processing demands significant RAM. OOM errors common on small clusters with large data.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82296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804672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TUNE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77840" y="877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Tuning Complexity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118872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Requires expertise: shuffle partitions, memory fractions, serializers, GC tuning.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76272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176272"/>
            <a:ext cx="822960" cy="11887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2176272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2249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Real-Time Limitations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56032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Micro-batch streaming not truly real-time; Flink better for low-latency (&lt;1s) requirements.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176272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176272"/>
            <a:ext cx="82296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176272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2249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API Inconsistencies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56032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Java API more verbose than Scala/Python; some features delayed in Java vs Scala.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547872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547872"/>
            <a:ext cx="822960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3547872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STORE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621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No Native Storage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393192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Spark is a compute engine only — needs HDFS, S3, or similar external storage layer.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547872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547872"/>
            <a:ext cx="822960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547872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SMALL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3621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Small File Problem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393192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Many tiny files on HDFS cause high overhead. Requires compaction strategies.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Lakehouse &amp; AI Trends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1480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Lakehouse 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Combines data lake (scale) + data warehouse (structure)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Delta Lake, Apache Iceberg, Apache Hudi on top of Spark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ACID transactions, schema enforcement, time-travel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Eliminates data silos between analytics and ML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Databricks Lakehouse built entirely on Spark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3434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04672"/>
            <a:ext cx="4343400" cy="3200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Spark + AI/ML Trends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70432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Spark + MLflow for end-to-end ML lifecycle tracking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Spark Connect: thin client for cloud/remote clusters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Integration with PyTorch/TensorFlow via TorchDistributor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LLM fine-tuning on Spark with distributed data prep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AutoML pipelines using SparkML + Hyperopt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3063240"/>
            <a:ext cx="8686800" cy="1920240"/>
          </a:xfrm>
          <a:prstGeom prst="rect">
            <a:avLst/>
          </a:prstGeom>
          <a:solidFill>
            <a:srgbClr val="EBF5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Key Technologies Shaping Spark's Future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1508760" cy="566928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4564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Delta Lake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3456432"/>
            <a:ext cx="1508760" cy="566928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03120" y="34564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Spark Connect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94760" y="3456432"/>
            <a:ext cx="1508760" cy="566928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94760" y="34564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Lightspeed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3456432"/>
            <a:ext cx="1508760" cy="566928"/>
          </a:xfrm>
          <a:prstGeom prst="rect">
            <a:avLst/>
          </a:prstGeom>
          <a:solidFill>
            <a:srgbClr val="E852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34564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Spark + LLMs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8040" y="3456432"/>
            <a:ext cx="1508760" cy="566928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78040" y="34564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Kubernetes-Native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in Java</a:t>
            </a:r>
            <a:endParaRPr lang="en-US" sz="3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– Classic Spark Demo in Java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11480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This Does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Reads a text file from disk (or HDFS)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Splits each line into individual words (flatMap)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Maps each word to a (word, 1) pair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Reduces by key to sum all counts per word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3434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04672"/>
            <a:ext cx="4343400" cy="3200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804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DAG Stages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170432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Stage 1: textFile → flatMap → mapToPair (no shuffle)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Shuffle boundary: data re-partitioned by word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Stage 2: reduceByKey (aggregates per partition)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3A5C"/>
                </a:solidFill>
              </a:rPr>
              <a:t>Action: collect() brings results to driver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304288"/>
            <a:ext cx="8686800" cy="2679192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304288"/>
            <a:ext cx="640080" cy="20116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3042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JAVA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532888"/>
            <a:ext cx="84124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org.apache.spark.api.java.JavaPairRDD;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org.apache.spark.api.java.JavaRDD;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scala.Tuple2;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java.util.Arrays;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JavaSparkContext sc = new JavaSparkContext(conf);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 1: Read and tokenize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lines = sc.textFile("input.txt");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words = lines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.flatMap(line -&gt; Arrays.asList(line.split("\s+")).iterator());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Shuffle + Stage 2: Count each word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JavaPairRDD&lt;String, Integer&gt; counts = words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.mapToPair(word -&gt; new Tuple2&lt;&gt;(word.toLowerCase(), 1))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.reduceByKey((a, b) -&gt; a + b);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Sort by frequency (descending) and show top results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counts.mapToPair(t -&gt; new Tuple2&lt;&gt;(t._2, t._1))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.sortByKey(false)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.mapToPair(t -&gt; new Tuple2&lt;&gt;(t._2, t._1))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.collect()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.forEach(t -&gt; System.out.println(t._1 + " -&gt; " + t._2));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594360" cy="603504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04672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8778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Spark is a unified engine — batch, streaming, ML, graph — all with one platform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481328"/>
            <a:ext cx="868680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481328"/>
            <a:ext cx="594360" cy="6035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481328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RDD, DataFrame, and Dataset are three complementary abstractions — choose wisely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157984"/>
            <a:ext cx="868680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157984"/>
            <a:ext cx="594360" cy="6035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157984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23113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Lazy evaluation + DAG = automatic optimization before execution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868680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34640"/>
            <a:ext cx="594360" cy="6035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834640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29077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Fault tolerance via RDD lineage — no costly replication needed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511296"/>
            <a:ext cx="868680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511296"/>
            <a:ext cx="594360" cy="60350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3511296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5844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Performance tuning: caching, partitioning, broadcast joins, AQE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4187952"/>
            <a:ext cx="868680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4187952"/>
            <a:ext cx="594360" cy="6035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4187952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2611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Java API is fully supported — use SparkSession for all new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2971800"/>
            <a:ext cx="2743200" cy="502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Spark: spark.apache.org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spark.apache.org/docs/latest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github.com/apache/spark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Spark with Java</dc:title>
  <dc:subject>PptxGenJS Presentation</dc:subject>
  <dc:creator>Technical Presentation</dc:creator>
  <cp:lastModifiedBy>Technical Presentation</cp:lastModifiedBy>
  <cp:revision>1</cp:revision>
  <dcterms:created xsi:type="dcterms:W3CDTF">2026-03-22T14:37:06Z</dcterms:created>
  <dcterms:modified xsi:type="dcterms:W3CDTF">2026-03-22T14:37:06Z</dcterms:modified>
</cp:coreProperties>
</file>