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62272"/>
            <a:ext cx="6217920" cy="68122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62179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5" name="Text 3"/>
          <p:cNvSpPr/>
          <p:nvPr/>
        </p:nvSpPr>
        <p:spPr>
          <a:xfrm>
            <a:off x="6263640" y="91440"/>
            <a:ext cx="1371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C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7680960" y="457200"/>
            <a:ext cx="1371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C2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Java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API — Deep Dive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" y="4480560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 Architecture  ·  RDDs  ·  DataFrames  ·  Dataset&lt;T&gt;  ·  SQL  ·  Optimization  ·  Streaming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457200"/>
            <a:ext cx="2468880" cy="4754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457200"/>
            <a:ext cx="50292" cy="47548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45720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115568"/>
            <a:ext cx="2468880" cy="4754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115568"/>
            <a:ext cx="50292" cy="47548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6" name="Text 14"/>
          <p:cNvSpPr/>
          <p:nvPr/>
        </p:nvSpPr>
        <p:spPr>
          <a:xfrm>
            <a:off x="6510528" y="111556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773936"/>
            <a:ext cx="2468880" cy="4754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773936"/>
            <a:ext cx="50292" cy="47548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17739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432304"/>
            <a:ext cx="2468880" cy="4754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2432304"/>
            <a:ext cx="50292" cy="47548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24323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090672"/>
            <a:ext cx="2468880" cy="4754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3090672"/>
            <a:ext cx="50292" cy="47548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3090672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3749040"/>
            <a:ext cx="2468880" cy="4754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3749040"/>
            <a:ext cx="50292" cy="47548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8" name="Text 26"/>
          <p:cNvSpPr/>
          <p:nvPr/>
        </p:nvSpPr>
        <p:spPr>
          <a:xfrm>
            <a:off x="6510528" y="374904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Beans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754880"/>
            <a:ext cx="640080" cy="3200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architecture to production-grade Dataset&lt;T&gt; APIs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34440"/>
            <a:ext cx="406908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34440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344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Data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81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Java alone isn't enough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6908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234440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2344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581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executors, clusters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1984248"/>
            <a:ext cx="406908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984248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98424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2020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3317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Maven, SparkSession, first app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984248"/>
            <a:ext cx="406908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1984248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198424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12080" y="2020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Fundamentals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3317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Spark API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2734056"/>
            <a:ext cx="406908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2734056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73405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2770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0815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SQL-style structured 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734056"/>
            <a:ext cx="406908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2734056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273405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12080" y="2770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— Deep Dive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0815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distributed objects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483864"/>
            <a:ext cx="406908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3483864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34838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0120" y="3520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&amp; Schemas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38313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Spark serializes Java types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483864"/>
            <a:ext cx="406908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0" y="3483864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348386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212080" y="3520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Operations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38313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Transformations, joins, aggregations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4233672"/>
            <a:ext cx="406908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46" name="Shape 44"/>
          <p:cNvSpPr/>
          <p:nvPr/>
        </p:nvSpPr>
        <p:spPr>
          <a:xfrm>
            <a:off x="411480" y="4233672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7" name="Text 45"/>
          <p:cNvSpPr/>
          <p:nvPr/>
        </p:nvSpPr>
        <p:spPr>
          <a:xfrm>
            <a:off x="521208" y="4233672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60120" y="4270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0120" y="45811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like a database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4233672"/>
            <a:ext cx="406908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51" name="Shape 49"/>
          <p:cNvSpPr/>
          <p:nvPr/>
        </p:nvSpPr>
        <p:spPr>
          <a:xfrm>
            <a:off x="4663440" y="4233672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52" name="Text 50"/>
          <p:cNvSpPr/>
          <p:nvPr/>
        </p:nvSpPr>
        <p:spPr>
          <a:xfrm>
            <a:off x="4773168" y="4233672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212080" y="4270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Optimization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12080" y="45811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fast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Data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Java app won't cut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2194560" cy="164592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07008"/>
            <a:ext cx="50292" cy="16459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Quintillion bytes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created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207008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Traditional Java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572768"/>
            <a:ext cx="5897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EC5"/>
                </a:solidFill>
              </a:rPr>
              <a:t>Reading a 500GB file into ArrayList? → OutOfMemoryError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EC5"/>
                </a:solidFill>
              </a:rPr>
              <a:t>Looping 1 billion records on one thread? → Takes hours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EC5"/>
                </a:solidFill>
              </a:rPr>
              <a:t>RAM limit · Disk I/O bottleneck · Single-threaded processing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EC5"/>
                </a:solidFill>
              </a:rPr>
              <a:t>A crash loses everything — no built-in fault tolerance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999232"/>
            <a:ext cx="8321040" cy="91440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999232"/>
            <a:ext cx="50292" cy="9144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44952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Distribute the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64992"/>
            <a:ext cx="8001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across 100 machines → each handles 1% → combine results. That's exactly what Spark does.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40690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processes data in-memory, in parallel, across thousands of machines simultaneously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Apache Spark?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analytics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070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is an open-source, distributed computing system designed for fast, large-scale data processing. Think of it as a supercharged way to process massive datasets across many computers simultaneously.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901952"/>
            <a:ext cx="4069080" cy="10972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901952"/>
            <a:ext cx="50292" cy="10972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93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225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100x faster than Hadoop MapReduce for in-memory operations. Disk I/O eliminated for iterative jobs.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901952"/>
            <a:ext cx="4069080" cy="10972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901952"/>
            <a:ext cx="50292" cy="1097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993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3225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for batch processing, streaming, SQL, machine learning, and graph analytics.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163824"/>
            <a:ext cx="4069080" cy="10972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3163824"/>
            <a:ext cx="50292" cy="1097280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5844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APIs in Java, Scala, Python, and R. No MapReduce boilerplate. Familiar lambda syntax.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163824"/>
            <a:ext cx="4069080" cy="10972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3163824"/>
            <a:ext cx="50292" cy="1097280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5844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clusters of 1 to 10,000+ machines. Scales linearly. Handles petabytes of data.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at UC Berkeley (2009)  ·  Open-sourced in 2010  ·  Apache Foundation top-level project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A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2907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executors, and how the cluster fits together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34440"/>
            <a:ext cx="3200400" cy="1783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34440"/>
            <a:ext cx="3200400" cy="36576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Program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SparkContext / SparkSession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Schedules tasks, coordinates jobs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DAG Scheduler  →  Task Scheduler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234440"/>
            <a:ext cx="2743200" cy="91440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1234440"/>
            <a:ext cx="2743200" cy="32918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2344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609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 /  Standalone  /  Kubernetes  /  Mesos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1664208"/>
            <a:ext cx="228600" cy="0"/>
          </a:xfrm>
          <a:prstGeom prst="line">
            <a:avLst/>
          </a:prstGeom>
          <a:noFill/>
          <a:ln w="19050">
            <a:solidFill>
              <a:srgbClr val="677B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200400"/>
            <a:ext cx="2651760" cy="175564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3200400"/>
            <a:ext cx="265176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" y="3593592"/>
            <a:ext cx="822960" cy="219456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1208" y="3867912"/>
            <a:ext cx="822960" cy="219456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3867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21208" y="4142232"/>
            <a:ext cx="822960" cy="219456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41422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63040" y="361188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(Memory)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37360" y="3017520"/>
            <a:ext cx="0" cy="182880"/>
          </a:xfrm>
          <a:prstGeom prst="line">
            <a:avLst/>
          </a:prstGeom>
          <a:noFill/>
          <a:ln w="15240">
            <a:solidFill>
              <a:srgbClr val="677B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0128" y="3200400"/>
            <a:ext cx="2651760" cy="175564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6" name="Shape 24"/>
          <p:cNvSpPr/>
          <p:nvPr/>
        </p:nvSpPr>
        <p:spPr>
          <a:xfrm>
            <a:off x="3310128" y="3200400"/>
            <a:ext cx="2651760" cy="320040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27" name="Text 25"/>
          <p:cNvSpPr/>
          <p:nvPr/>
        </p:nvSpPr>
        <p:spPr>
          <a:xfrm>
            <a:off x="3401568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19856" y="3593592"/>
            <a:ext cx="822960" cy="219456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29" name="Text 27"/>
          <p:cNvSpPr/>
          <p:nvPr/>
        </p:nvSpPr>
        <p:spPr>
          <a:xfrm>
            <a:off x="3419856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19856" y="3867912"/>
            <a:ext cx="822960" cy="219456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31" name="Text 29"/>
          <p:cNvSpPr/>
          <p:nvPr/>
        </p:nvSpPr>
        <p:spPr>
          <a:xfrm>
            <a:off x="3419856" y="3867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19856" y="4142232"/>
            <a:ext cx="822960" cy="219456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33" name="Text 31"/>
          <p:cNvSpPr/>
          <p:nvPr/>
        </p:nvSpPr>
        <p:spPr>
          <a:xfrm>
            <a:off x="3419856" y="41422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61688" y="361188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(Memory)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36008" y="3017520"/>
            <a:ext cx="0" cy="182880"/>
          </a:xfrm>
          <a:prstGeom prst="line">
            <a:avLst/>
          </a:prstGeom>
          <a:noFill/>
          <a:ln w="15240">
            <a:solidFill>
              <a:srgbClr val="677B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08776" y="3200400"/>
            <a:ext cx="2651760" cy="175564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7" name="Shape 35"/>
          <p:cNvSpPr/>
          <p:nvPr/>
        </p:nvSpPr>
        <p:spPr>
          <a:xfrm>
            <a:off x="6208776" y="3200400"/>
            <a:ext cx="2651760" cy="320040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38" name="Text 36"/>
          <p:cNvSpPr/>
          <p:nvPr/>
        </p:nvSpPr>
        <p:spPr>
          <a:xfrm>
            <a:off x="6300216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18504" y="3593592"/>
            <a:ext cx="822960" cy="219456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40" name="Text 38"/>
          <p:cNvSpPr/>
          <p:nvPr/>
        </p:nvSpPr>
        <p:spPr>
          <a:xfrm>
            <a:off x="6318504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18504" y="3867912"/>
            <a:ext cx="822960" cy="219456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42" name="Text 40"/>
          <p:cNvSpPr/>
          <p:nvPr/>
        </p:nvSpPr>
        <p:spPr>
          <a:xfrm>
            <a:off x="6318504" y="3867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18504" y="4142232"/>
            <a:ext cx="822960" cy="219456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44" name="Text 42"/>
          <p:cNvSpPr/>
          <p:nvPr/>
        </p:nvSpPr>
        <p:spPr>
          <a:xfrm>
            <a:off x="6318504" y="41422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260336" y="361188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(Memory)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34656" y="3017520"/>
            <a:ext cx="0" cy="182880"/>
          </a:xfrm>
          <a:prstGeom prst="line">
            <a:avLst/>
          </a:prstGeom>
          <a:noFill/>
          <a:ln w="15240">
            <a:solidFill>
              <a:srgbClr val="677B8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67728" y="1234440"/>
            <a:ext cx="1764792" cy="192024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48" name="Shape 46"/>
          <p:cNvSpPr/>
          <p:nvPr/>
        </p:nvSpPr>
        <p:spPr>
          <a:xfrm>
            <a:off x="6967728" y="1234440"/>
            <a:ext cx="50292" cy="1920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12984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= brain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job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132320" y="1719072"/>
            <a:ext cx="1417320" cy="0"/>
          </a:xfrm>
          <a:prstGeom prst="line">
            <a:avLst/>
          </a:prstGeom>
          <a:noFill/>
          <a:ln w="6350">
            <a:solidFill>
              <a:srgbClr val="2A3F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17556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= worker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in cluster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132320" y="2176272"/>
            <a:ext cx="1417320" cy="0"/>
          </a:xfrm>
          <a:prstGeom prst="line">
            <a:avLst/>
          </a:prstGeom>
          <a:noFill/>
          <a:ln w="6350">
            <a:solidFill>
              <a:srgbClr val="2A3F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22128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per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132320" y="2633472"/>
            <a:ext cx="1417320" cy="0"/>
          </a:xfrm>
          <a:prstGeom prst="line">
            <a:avLst/>
          </a:prstGeom>
          <a:noFill/>
          <a:ln w="6350">
            <a:solidFill>
              <a:srgbClr val="2A3F5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0" y="26700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driver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You Must Know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of Spark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4069080" cy="8046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07008"/>
            <a:ext cx="50292" cy="80467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computation triggered by an action (like .count() or .collect()). One action = one job in the Spark UI.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207008"/>
            <a:ext cx="4069080" cy="8046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207008"/>
            <a:ext cx="50292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Acyclic Graph — Spark's execution plan showing step dependencies and optimization opportunities.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121408"/>
            <a:ext cx="4069080" cy="8046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121408"/>
            <a:ext cx="50292" cy="804672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tasks that can run without shuffling data between machines. Stages are separated by shuffles.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21408"/>
            <a:ext cx="4069080" cy="8046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2121408"/>
            <a:ext cx="50292" cy="8046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468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Redistributing data across executors. Very expensive — avoid when possible. Used in joins, groupBy, repartition.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035808"/>
            <a:ext cx="4069080" cy="8046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035808"/>
            <a:ext cx="50292" cy="804672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90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unit — one task processes one partition on one executor. Tasks within a stage run in parallel.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035808"/>
            <a:ext cx="4069080" cy="8046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3035808"/>
            <a:ext cx="50292" cy="80467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090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383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of your dataset. Spark splits data into partitions for parallel processing — more partitions = more parallelism.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950208"/>
            <a:ext cx="4069080" cy="8046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0" name="Shape 28"/>
          <p:cNvSpPr/>
          <p:nvPr/>
        </p:nvSpPr>
        <p:spPr>
          <a:xfrm>
            <a:off x="411480" y="3950208"/>
            <a:ext cx="50292" cy="80467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2976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don't run until an action is called. Spark plans first, optimizes the whole plan, then acts.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950208"/>
            <a:ext cx="4069080" cy="8046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3950208"/>
            <a:ext cx="50292" cy="8046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42976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of how an RDD was built — used to recover lost partitions from failures without expensive replication.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— The Entry Point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gateway into the Spark world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34440"/>
            <a:ext cx="5120640" cy="242316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4416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4416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4416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527048"/>
            <a:ext cx="47914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org.apache.spark.sql.SparkSession;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SparkSession spark = SparkSession.builder()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.appName("MyFirstApp")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.master("local[*]")  // * = use all CPU cores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.config("spark.sql.shuffle.partitions", "4")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.getOrCreate();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stop Spark when done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spark.stop();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571500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.master() options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0" y="1572768"/>
            <a:ext cx="3017520" cy="32004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15727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14032" y="1572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 thread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15000" y="1956816"/>
            <a:ext cx="3017520" cy="32004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19568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"local[4]"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14032" y="19568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 threads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15000" y="2340864"/>
            <a:ext cx="3017520" cy="32004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23408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"local[*]"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14032" y="23408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cores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2724912"/>
            <a:ext cx="3017520" cy="32004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27249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"spark://..."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14032" y="2724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real cluster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15000" y="32369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vs SparkContext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15000" y="3547872"/>
            <a:ext cx="3017520" cy="54864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0" y="3547872"/>
            <a:ext cx="50292" cy="5486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356616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Spark (&lt; 2.0) used SparkContext. SparkSession wraps it — always use SparkSession in modern code.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15000" y="4169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getOrCreate()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15000" y="4480560"/>
            <a:ext cx="3017520" cy="45720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9" name="Shape 27"/>
          <p:cNvSpPr/>
          <p:nvPr/>
        </p:nvSpPr>
        <p:spPr>
          <a:xfrm>
            <a:off x="5715000" y="4480560"/>
            <a:ext cx="50292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4498848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existing session if one already exists. Safe to call multiple times.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is the single entry point for all Spark functionality since Spark 2.0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 — The Most Important Concept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plans first, acts second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070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 trips up EVERY beginner. Understand it deeply.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457200" cy="457200"/>
          </a:xfrm>
          <a:prstGeom prst="ellipse">
            <a:avLst/>
          </a:prstGeom>
          <a:solidFill>
            <a:srgbClr val="1C2B3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81528" y="1783080"/>
            <a:ext cx="502920" cy="0"/>
          </a:xfrm>
          <a:prstGeom prst="line">
            <a:avLst/>
          </a:prstGeom>
          <a:noFill/>
          <a:ln w="19050">
            <a:solidFill>
              <a:srgbClr val="E852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84832"/>
            <a:ext cx="2651760" cy="126187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176272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rdd.filter(...)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rdd.map(...)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df.select(...)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401568"/>
            <a:ext cx="265176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3401568"/>
            <a:ext cx="50292" cy="640080"/>
          </a:xfrm>
          <a:prstGeom prst="rect">
            <a:avLst/>
          </a:prstGeom>
          <a:solidFill>
            <a:srgbClr val="677B8C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343814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yet!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just records intent.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0128" y="1554480"/>
            <a:ext cx="457200" cy="457200"/>
          </a:xfrm>
          <a:prstGeom prst="ellipse">
            <a:avLst/>
          </a:prstGeom>
          <a:solidFill>
            <a:srgbClr val="1C2B3F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58768" y="1600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Transformations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0176" y="1783080"/>
            <a:ext cx="502920" cy="0"/>
          </a:xfrm>
          <a:prstGeom prst="line">
            <a:avLst/>
          </a:prstGeom>
          <a:noFill/>
          <a:ln w="19050">
            <a:solidFill>
              <a:srgbClr val="E852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0128" y="2084832"/>
            <a:ext cx="2651760" cy="126187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0" name="Text 18"/>
          <p:cNvSpPr/>
          <p:nvPr/>
        </p:nvSpPr>
        <p:spPr>
          <a:xfrm>
            <a:off x="3419856" y="2176272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rdd.filter(...)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.groupBy(...)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3401568"/>
            <a:ext cx="265176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2" name="Shape 20"/>
          <p:cNvSpPr/>
          <p:nvPr/>
        </p:nvSpPr>
        <p:spPr>
          <a:xfrm>
            <a:off x="3310128" y="3401568"/>
            <a:ext cx="50292" cy="640080"/>
          </a:xfrm>
          <a:prstGeom prst="rect">
            <a:avLst/>
          </a:prstGeom>
          <a:solidFill>
            <a:srgbClr val="677B8C"/>
          </a:solidFill>
          <a:ln/>
        </p:spPr>
      </p:sp>
      <p:sp>
        <p:nvSpPr>
          <p:cNvPr id="23" name="Text 21"/>
          <p:cNvSpPr/>
          <p:nvPr/>
        </p:nvSpPr>
        <p:spPr>
          <a:xfrm>
            <a:off x="3419856" y="343814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nothing runs.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DAG plan.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08776" y="1554480"/>
            <a:ext cx="457200" cy="457200"/>
          </a:xfrm>
          <a:prstGeom prst="ellipse">
            <a:avLst/>
          </a:prstGeom>
          <a:solidFill>
            <a:srgbClr val="E8521A"/>
          </a:solidFill>
          <a:ln/>
        </p:spPr>
      </p:sp>
      <p:sp>
        <p:nvSpPr>
          <p:cNvPr id="25" name="Text 23"/>
          <p:cNvSpPr/>
          <p:nvPr/>
        </p:nvSpPr>
        <p:spPr>
          <a:xfrm>
            <a:off x="620877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57416" y="1600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Action!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08776" y="2084832"/>
            <a:ext cx="2651760" cy="126187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8" name="Text 26"/>
          <p:cNvSpPr/>
          <p:nvPr/>
        </p:nvSpPr>
        <p:spPr>
          <a:xfrm>
            <a:off x="6318504" y="2176272"/>
            <a:ext cx="2432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.count()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.saveAsTextFile()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08776" y="3401568"/>
            <a:ext cx="2651760" cy="6400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0" name="Shape 28"/>
          <p:cNvSpPr/>
          <p:nvPr/>
        </p:nvSpPr>
        <p:spPr>
          <a:xfrm>
            <a:off x="6208776" y="3401568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1" name="Text 29"/>
          <p:cNvSpPr/>
          <p:nvPr/>
        </p:nvSpPr>
        <p:spPr>
          <a:xfrm>
            <a:off x="6318504" y="343814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Spark executes!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run at once.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4160520"/>
            <a:ext cx="8321040" cy="65836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3" name="Shape 31"/>
          <p:cNvSpPr/>
          <p:nvPr/>
        </p:nvSpPr>
        <p:spPr>
          <a:xfrm>
            <a:off x="411480" y="4160520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2062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Spark optimizes the entire plan before running — it can skip steps, reorder, and combine operations for maximum efficiency. The Catalyst optimizer generates near-optimal execution code.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A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Abstractions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2907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→ DataFrame → Dataset&lt;T&gt; — evolution of the Spark 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— Resilient Distributed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Spark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070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RDD is an immutable, distributed collection of objects. It's the original Spark data structure.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09344"/>
            <a:ext cx="8321040" cy="7132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609344"/>
            <a:ext cx="50292" cy="71323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19072"/>
            <a:ext cx="457200" cy="457200"/>
          </a:xfrm>
          <a:prstGeom prst="ellipse">
            <a:avLst/>
          </a:prstGeom>
          <a:solidFill>
            <a:srgbClr val="E852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6642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95681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— if a node crashes, Spark can recompute the lost data from its lineage graph. No costly replication needed.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432304"/>
            <a:ext cx="8321040" cy="7132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432304"/>
            <a:ext cx="50292" cy="713232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6DB7E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77977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across many machines — each machine handles a partition of the data in parallel for maximum throughput.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255264"/>
            <a:ext cx="8321040" cy="7132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3255264"/>
            <a:ext cx="50292" cy="713232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3101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60273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any Java objects — integers, strings, custom POJOs, tuples. Fully generic: JavaRDD&lt;T&gt;.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096512"/>
            <a:ext cx="4023360" cy="7132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4096512"/>
            <a:ext cx="50292" cy="71323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133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Immutable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44256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modify an RDD. Every transformation creates a new one.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4096512"/>
            <a:ext cx="4023360" cy="7132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9160" y="4096512"/>
            <a:ext cx="50292" cy="7132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Recommendation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44256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DataFrames / Datasets instead of raw RDDs for most use cases.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RDDs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make 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263347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 need JavaSparkContext for RDDs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JavaSparkContext sc = new JavaSparkContext(spark.sparkContext());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1: Parallelize an existing Java collection 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numbers = Arrays.asList(1, 2, 3, 4, 5, 6, 7, 8, 9, 10);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JavaRDD&lt;Integer&gt; rdd1 = sc.parallelize(numbers);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2: Read from a text file 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rdd2 = sc.textFile("data/patients.csv");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line becomes one element in the RDD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3: Convert a DataFrame to RDD 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JavaRDD&lt;Row&gt; rdd3 = df.javaRDD();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Convert existing DataFrame back to RDD when needed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3950208"/>
            <a:ext cx="8321040" cy="91440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3950208"/>
            <a:ext cx="50292" cy="9144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279392"/>
            <a:ext cx="8001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splits the data into partitions automatically. More partitions = more parallelism.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hint: sc.parallelize(list, 8) creates 8 partitions. Use rdd.getNumPartitions() to check.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Transformations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operations that shape your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27355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words = sc.textFile("words.txt");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map() — transform each element into something else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JavaRDD&lt;Integer&gt; lengths = words.map(word -&gt; word.length());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filter() — keep only elements matching a condition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longWords = words.filter(w -&gt; w.length() &gt; 5);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flatMap() — each element can produce 0 or many results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allWords = words.flatMap(line -&gt;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Arrays.asList(line.split(" ")).iterator());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distinct() — removes duplicates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unique = allWords.distinct();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mapToPair() — creates key-value pairs (JavaPairRDD)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JavaPairRDD&lt;String,Integer&gt; pairs = allWords.mapToPair(w -&gt; new Tuple2&lt;&gt;(w, 1));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4572000"/>
            <a:ext cx="50292" cy="38404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5994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None of these run yet! They just build the execution plan (DAG). The action triggers all of them together.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A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API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2907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data, Catalyst optimizer, SQL-ready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— The Modern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data, structured thinking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070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Dataset of Rows — like a table in a relational database, but distributed across your cluster. This is what you'll use 90% of the time.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55648"/>
          <a:ext cx="8321040" cy="1920240"/>
        </p:xfrm>
        <a:graphic>
          <a:graphicData uri="http://schemas.openxmlformats.org/drawingml/2006/table">
            <a:tbl>
              <a:tblPr/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patient_id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creatinine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district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P001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Ravi Kumar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45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1.2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Dharmapuri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0BEC5"/>
                          </a:solidFill>
                        </a:rPr>
                        <a:t>P002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0BEC5"/>
                          </a:solidFill>
                        </a:rPr>
                        <a:t>Meena Devi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0BEC5"/>
                          </a:solidFill>
                        </a:rPr>
                        <a:t>62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0BEC5"/>
                          </a:solidFill>
                        </a:rPr>
                        <a:t>2.8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0BEC5"/>
                          </a:solidFill>
                        </a:rPr>
                        <a:t>Salem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P003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Arjun Nair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38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0.9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Dharmapuri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0BEC5"/>
                          </a:solidFill>
                        </a:rPr>
                        <a:t>P004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0BEC5"/>
                          </a:solidFill>
                        </a:rPr>
                        <a:t>Priya Siva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0BEC5"/>
                          </a:solidFill>
                        </a:rPr>
                        <a:t>55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0BEC5"/>
                          </a:solidFill>
                        </a:rPr>
                        <a:t>3.1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0BEC5"/>
                          </a:solidFill>
                        </a:rPr>
                        <a:t>Krishnagiri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38221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Schema-aware: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929384" y="3822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has a named type. Spark catches errors early.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663440" y="38221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SQL-ready: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81344" y="3822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it with full SQL syntax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42611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Optimized: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929384" y="42611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optimizer rewrites your query for speed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63440" y="42611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Interoperable: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81344" y="42611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CSV, JSON, Parquet, JDBC, and more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into DataFrames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reads almost everything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0632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CSV ─────────────────────────────────────────────────────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df = spark.read()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.option("header", "true")       // first row = column names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.option("inferSchema", "true")  // auto-detect int/string/etc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.csv("data/patients.csv");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JSON ────────────────────────────────────────────────────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jsonDf = spark.read().json("data/records.json");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Parquet (best performance for big data) 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parDf = spark.read().parquet("data/warehouse/");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Print schema and preview 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df.printSchema();  // shows column names and types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df.show(5);        // prints first 5 rows to console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4370832"/>
            <a:ext cx="8321040" cy="59436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4370832"/>
            <a:ext cx="50292" cy="59436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40740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is the recommended format for large data — it's columnar, compressed, and Spark reads it 10x faster than CSV. Always prefer Parquet in production over CSV or JSON.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Operations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structured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5303520" cy="309067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4974336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static org.apache.spark.sql.functions.*;  // import col(), avg(), count(), etc.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select() — pick columns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df.select("name", "creatinine").show();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filter() — WHERE clause equivalent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df.filter(col("creatinine").gt(1.5)).show();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groupBy + agg — GROUP BY equivalent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df.groupBy("district")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count("patient_id").alias("total_patients"),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avg("creatinine").alias("avg_creatinine")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.orderBy(desc("avg_creatinine"))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.show();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870448" y="1207008"/>
            <a:ext cx="2862072" cy="30906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5870448" y="1207008"/>
            <a:ext cx="50292" cy="3090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016752" y="12527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16752" y="1591056"/>
            <a:ext cx="25786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B0BEC5"/>
                </a:solidFill>
              </a:rPr>
              <a:t>withColumn() — add/replace a column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B0BEC5"/>
                </a:solidFill>
              </a:rPr>
              <a:t>drop() — remove columns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B0BEC5"/>
                </a:solidFill>
              </a:rPr>
              <a:t>join() — join two DataFrames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B0BEC5"/>
                </a:solidFill>
              </a:rPr>
              <a:t>distinct() — remove duplicate rows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B0BEC5"/>
                </a:solidFill>
              </a:rPr>
              <a:t>limit(n) — take first n rows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B0BEC5"/>
                </a:solidFill>
              </a:rPr>
              <a:t>sort() / orderBy() — sort results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B0BEC5"/>
                </a:solidFill>
              </a:rPr>
              <a:t>union() — combine two DataFrames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B0BEC5"/>
                </a:solidFill>
              </a:rPr>
              <a:t>sample() — random sample fraction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11480" y="4407408"/>
            <a:ext cx="8321040" cy="4754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407408"/>
            <a:ext cx="50292" cy="47548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44398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static import of functions.* is essential for clean Java code — without it every function call is functions.col(), functions.avg(), etc.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A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— Deep Dive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2907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distributed data · The best of RDD + DataFrame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Dataset&lt;T&gt;?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 meets distributed computing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070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is a strongly-typed, distributed collection of objects introduced in Spark 1.6. It combines the type safety of RDDs with the optimizer benefits of DataFrames.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2651760" cy="283464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783080"/>
            <a:ext cx="50292" cy="2834640"/>
          </a:xfrm>
          <a:prstGeom prst="rect">
            <a:avLst/>
          </a:prstGeom>
          <a:solidFill>
            <a:srgbClr val="677B8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8288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21208" y="2359152"/>
            <a:ext cx="2432304" cy="0"/>
          </a:xfrm>
          <a:prstGeom prst="line">
            <a:avLst/>
          </a:prstGeom>
          <a:noFill/>
          <a:ln w="6350">
            <a:solidFill>
              <a:srgbClr val="2A3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87168"/>
            <a:ext cx="2240280" cy="5486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24871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3145536"/>
            <a:ext cx="2240280" cy="5486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31455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optimizer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" y="3803904"/>
            <a:ext cx="2240280" cy="5486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38039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783080"/>
            <a:ext cx="2651760" cy="283464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1783080"/>
            <a:ext cx="50292" cy="28346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8288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355848" y="2359152"/>
            <a:ext cx="2432304" cy="0"/>
          </a:xfrm>
          <a:prstGeom prst="line">
            <a:avLst/>
          </a:prstGeom>
          <a:noFill/>
          <a:ln w="6350">
            <a:solidFill>
              <a:srgbClr val="2A3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47288" y="2487168"/>
            <a:ext cx="2240280" cy="5486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1" name="Text 19"/>
          <p:cNvSpPr/>
          <p:nvPr/>
        </p:nvSpPr>
        <p:spPr>
          <a:xfrm>
            <a:off x="3447288" y="24871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47288" y="3145536"/>
            <a:ext cx="2240280" cy="5486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3" name="Text 21"/>
          <p:cNvSpPr/>
          <p:nvPr/>
        </p:nvSpPr>
        <p:spPr>
          <a:xfrm>
            <a:off x="3447288" y="31455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compile-time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7288" y="3803904"/>
            <a:ext cx="2240280" cy="5486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5" name="Text 23"/>
          <p:cNvSpPr/>
          <p:nvPr/>
        </p:nvSpPr>
        <p:spPr>
          <a:xfrm>
            <a:off x="3447288" y="38039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783080"/>
            <a:ext cx="2651760" cy="283464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0760" y="1783080"/>
            <a:ext cx="2651760" cy="50292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28" name="Shape 26"/>
          <p:cNvSpPr/>
          <p:nvPr/>
        </p:nvSpPr>
        <p:spPr>
          <a:xfrm>
            <a:off x="6080760" y="1783080"/>
            <a:ext cx="50292" cy="2834640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18288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190488" y="2359152"/>
            <a:ext cx="2432304" cy="0"/>
          </a:xfrm>
          <a:prstGeom prst="line">
            <a:avLst/>
          </a:prstGeom>
          <a:noFill/>
          <a:ln w="6350">
            <a:solidFill>
              <a:srgbClr val="2A3F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81928" y="2487168"/>
            <a:ext cx="2240280" cy="5486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2" name="Text 30"/>
          <p:cNvSpPr/>
          <p:nvPr/>
        </p:nvSpPr>
        <p:spPr>
          <a:xfrm>
            <a:off x="6281928" y="24871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81928" y="3145536"/>
            <a:ext cx="2240280" cy="5486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4" name="Text 32"/>
          <p:cNvSpPr/>
          <p:nvPr/>
        </p:nvSpPr>
        <p:spPr>
          <a:xfrm>
            <a:off x="6281928" y="31455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81928" y="3803904"/>
            <a:ext cx="2240280" cy="5486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6" name="Text 34"/>
          <p:cNvSpPr/>
          <p:nvPr/>
        </p:nvSpPr>
        <p:spPr>
          <a:xfrm>
            <a:off x="6281928" y="38039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63240" y="2359152"/>
            <a:ext cx="384048" cy="0"/>
          </a:xfrm>
          <a:prstGeom prst="line">
            <a:avLst/>
          </a:prstGeom>
          <a:noFill/>
          <a:ln w="25400">
            <a:solidFill>
              <a:srgbClr val="E852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359152"/>
            <a:ext cx="384048" cy="0"/>
          </a:xfrm>
          <a:prstGeom prst="line">
            <a:avLst/>
          </a:prstGeom>
          <a:noFill/>
          <a:ln w="25400">
            <a:solidFill>
              <a:srgbClr val="E852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22128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52160" y="22128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the Spark API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a Java Bean (POJO)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requires a properly structured Java class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5349240" cy="370332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5020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java.io.Serializable;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Rules for a valid Spark Java Bean: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1. Must implement Serializable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2. Must have a public no-args constructor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3. All fields must have public getters AND setters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Employee implements Serializable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 name;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 department;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 salary;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 age;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boolean active;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Required: no-args constructor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Employee() {}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 getName()       { return name;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 getDepartment() { return department;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 getSalary()     { return salary;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    getAge()        { return age;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boolean isActive()      { return active;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Setters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setName(String name)             { this.name = name;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setDepartment(String department) { this.department = department;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setSalary(double salary)         { this.salary = salary;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setAge(int age)                  { this.age = age;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setActive(boolean active)        { this.active = active;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925312" y="1207008"/>
            <a:ext cx="2807208" cy="148132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5925312" y="1207008"/>
            <a:ext cx="50292" cy="14813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Text 10"/>
          <p:cNvSpPr/>
          <p:nvPr/>
        </p:nvSpPr>
        <p:spPr>
          <a:xfrm>
            <a:off x="6071616" y="12527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Required Rules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71616" y="157276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Implement Serializable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Public no-args constructor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Getters for all fields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Setters for all fields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No inner/anonymous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25312" y="2816352"/>
            <a:ext cx="2807208" cy="10972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5312" y="2816352"/>
            <a:ext cx="50292" cy="10972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6" name="Text 14"/>
          <p:cNvSpPr/>
          <p:nvPr/>
        </p:nvSpPr>
        <p:spPr>
          <a:xfrm>
            <a:off x="6071616" y="28529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Tip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71616" y="3163824"/>
            <a:ext cx="2542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@Data + @NoArgsConstructor + @AllArgsConstructor from Lombok to auto-generate boilerplate. Saves hundreds of lines.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25312" y="3986784"/>
            <a:ext cx="2807208" cy="73152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25312" y="3986784"/>
            <a:ext cx="50292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071616" y="40233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Getter Rule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71616" y="42976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fields use isX() not getX(). Spark's encoder checks for this.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Encoders: How Spark Serializes Java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JVM objects and Spark's internal row format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070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Encoder is a type-safe serializer that converts JVM objects to/from Spark's internal binary format (InternalRow). Unlike Java serialization, encoders generate specialized code for each type.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810512"/>
            <a:ext cx="8321040" cy="27432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920240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920240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103120"/>
            <a:ext cx="79918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org.apache.spark.sql.Encoders;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org.apache.spark.sql.Encoder;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For Java Beans (POJOs) ───────────────────────────────────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Encoder&lt;Employee&gt; empEncoder = Encoders.bean(Employee.class);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For primitive/wrapper types 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Encoder&lt;String&gt;  strEncoder  = Encoders.STRING();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Encoder&lt;Integer&gt; intEncoder  = Encoders.INT();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Encoder&lt;Double&gt;  dblEncoder  = Encoders.DOUBLE();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Encoder&lt;Long&gt;    longEncoder = Encoders.LONG();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For Java Serializable objects (fallback — slower) 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Encoder&lt;MyObj&gt; javaEncoder = Encoders.javaSerialization(MyObj.class);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Avoid javaSerialization — it's slow; prefer bean() or kryo()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For Kryo serialization (faster than Java, less safe) 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Encoder&lt;MyObj&gt; kryoEncoder = Encoders.kryo(MyObj.class);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11480" y="4663440"/>
            <a:ext cx="2651760" cy="59436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4663440"/>
            <a:ext cx="50292" cy="594360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46817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C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Encoders.bean()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" y="491947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Java POJOs with getters/setters. Generated code is highly optimized. Recommended for all Java beans.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246120" y="4663440"/>
            <a:ext cx="2651760" cy="59436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4663440"/>
            <a:ext cx="50292" cy="59436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46817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Encoders.STRING()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85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.INT() .DOUBLE()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491947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primitive and wrapper types. Zero overhead. Always prefer these for simple typed Datasets.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080760" y="4663440"/>
            <a:ext cx="2651760" cy="59436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0760" y="4663440"/>
            <a:ext cx="50292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46817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Encoders.kryo()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90488" y="491947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binary format. No schema inference. Good for complex objects that don't qualify as beans.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Creating Dataset&lt;T&gt;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create a typed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33756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Encoder&lt;Employee&gt; encoder = Encoders.bean(Employee.class);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1: Read file directly as typed Dataset 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empDS = spark.read()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.option("header", "true")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.csv("employees.csv")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.as(encoder);                        // &lt;── .as() converts to typed Dataset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2: Convert existing DataFrame to Dataset 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df = spark.read().csv("employees.csv");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typedDS = df.as(encoder);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3: From a Java List (for testing) 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List&lt;Employee&gt; empList = Arrays.asList(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Employee("Alice", "Engineering", 90000.0, 30, true),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Employee("Bob",   "Finance",     75000.0, 35, false)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fromList = spark.createDataset(empList, encoder);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4: Convert RDD to Dataset 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JavaRDD&lt;Employee&gt; empRdd = sc.parallelize(empList);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fromRdd = spark.createDataset(empRdd.rdd(), encoder);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4645152"/>
            <a:ext cx="8321040" cy="62179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4645152"/>
            <a:ext cx="50292" cy="621792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681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.as(encoder) method is the most common pattern — read a DataFrame and immediately cast to typed Dataset. This gives you the full Catalyst optimization PLUS compile-time type safety.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Typed Operations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errors at compile time, not runtime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47472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employees = spark.read()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.option("header", "true").csv("employees.csv")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.as(Encoders.bean(Employee.class));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Typed filter — compile-time checked 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senior = employees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.filter(e -&gt; e.getSalary() &gt; 80000 &amp;&amp; e.isActive());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Typed map — transform to a different type 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Dataset&lt;String&gt; names = employees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.map(e -&gt; e.getName().toUpperCase(), Encoders.STRING());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Typed flatMap ─────────────────────────────────────────────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Dataset&lt;String&gt; skills = employees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.flatMap(e -&gt; Arrays.asList(e.getSkills()).iterator(),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Encoders.STRING());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Typed reduce ─────────────────────────────────────────────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highestPaid = employees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.reduce((a, b) -&gt; a.getSalary() &gt; b.getSalary() ? a : b);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Convert to DataFrame for SQL operations 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df = employees.toDF();  // lose type safety, gain SQL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4773168"/>
            <a:ext cx="8321040" cy="29260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4773168"/>
            <a:ext cx="50292" cy="292608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791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e.getSalary() — IDE auto-complete works, refactoring safe, wrong field = compile error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5120640"/>
            <a:ext cx="8321040" cy="29260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512064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5138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col("salary") — typo is only caught at runtime, potentially crashing overnight jobs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— Aggregations &amp; GroupBy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typed and SQL-style operations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7490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static org.apache.spark.sql.functions.*;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employees = /* ... */;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groupBy returns a RelationalGroupedDataset 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.agg() for aggregations — returns Dataset&lt;Row&gt;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deptStats = employees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.groupBy("department")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count("*").alias("headcount"),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avg("salary").alias("avg_salary"),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max("salary").alias("max_salary"),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sum(col("salary").multiply(0.1)).alias("bonus_pool")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.orderBy(desc("avg_salary"));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deptStats.show();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Typed groupByKey — stays fully typed 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KeyValueGroupedDataset&lt;String, Employee&gt; grouped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employees.groupByKey(Employee::getDepartment, Encoders.STRING());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Dataset&lt;String&gt; summary = grouped.mapGroups(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(dept, empIter) -&gt;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 count = 0; double totalSalary = 0;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(empIter.hasNext()) { Employee e = empIter.next(); count++; totalSalary += e.getSalary();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dept + ": " + count + " employees, avg $" + (totalSalary/count);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Encoders.STRING());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5047488"/>
            <a:ext cx="8321040" cy="41148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5047488"/>
            <a:ext cx="50292" cy="411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50749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groupByKey() returns KeyValueGroupedDataset&lt;K,T&gt; — the fully typed aggregation API. groupBy().agg() is more common in practice as it's simpler and benefits from Catalyst.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— Joins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join types with Java examples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54787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employees = /* ... */;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Dataset&lt;Department&gt; departments = /* ... */;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Inner join — only matching rows 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inner = employees.join(departments,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employees.col("deptId").equalTo(departments.col("id")),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"inner");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Left outer — all employees, null if no dept match 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leftOuter = employees.join(departments,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employees.col("deptId").equalTo(departments.col("id")),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"left_outer");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Typed join using joinWith — preserves both types 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Dataset&lt;Tuple2&lt;Employee, Department&gt;&gt; typed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employees.joinWith(departments,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employees.col("deptId").equalTo(departments.col("id")),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"inner");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 both sides as typed objects: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typed.map(t -&gt; t._1().getName() + " → " + t._2().getName(),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Encoders.STRING()).show();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4846320"/>
            <a:ext cx="2697480" cy="27432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4846320"/>
            <a:ext cx="50292" cy="27432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5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"inner"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00200" y="4846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rows only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4846320"/>
            <a:ext cx="2697480" cy="27432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4846320"/>
            <a:ext cx="50292" cy="274320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"left_outer"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4846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left + matched right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4846320"/>
            <a:ext cx="2697480" cy="27432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0760" y="4846320"/>
            <a:ext cx="50292" cy="2743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59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"right_outer"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69480" y="4846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 + matched left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5166360"/>
            <a:ext cx="2697480" cy="27432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5166360"/>
            <a:ext cx="50292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5166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"full_outer"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5166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5166360"/>
            <a:ext cx="2697480" cy="27432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7" name="Shape 25"/>
          <p:cNvSpPr/>
          <p:nvPr/>
        </p:nvSpPr>
        <p:spPr>
          <a:xfrm>
            <a:off x="3246120" y="5166360"/>
            <a:ext cx="50292" cy="274320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5166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"left_semi"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34840" y="5166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rows with a match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0760" y="5166360"/>
            <a:ext cx="2697480" cy="27432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1" name="Shape 29"/>
          <p:cNvSpPr/>
          <p:nvPr/>
        </p:nvSpPr>
        <p:spPr>
          <a:xfrm>
            <a:off x="6080760" y="5166360"/>
            <a:ext cx="50292" cy="2743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5166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"cross"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69480" y="5166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 ⚠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— Window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without losing your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675888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org.apache.spark.sql.expressions.Window;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org.apache.spark.sql.expressions.WindowSpec;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static org.apache.spark.sql.functions.*;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employees = /* ... */;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Define the window: partition by dept, order by salary desc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WindowSpec window = Window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.partitionBy("department")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.orderBy(col("salary").desc());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Apply window functions to get ranked DataFrame 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ranked = employees.toDF()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.withColumn("rank",        rank().over(window))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.withColumn("dense_rank",  dense_rank().over(window))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.withColumn("row_num",     row_number().over(window))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.withColumn("prev_salary", lag("salary", 1).over(window))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.withColumn("running_avg", avg("salary").over(window))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.withColumn("pct_of_max",  col("salary").divide(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max("salary").over(window)).multiply(100));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Cast back to typed Dataset using Encoder 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(need a new POJO with extra fields, or use Row API)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ranked.show();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4983480"/>
            <a:ext cx="2697480" cy="2560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4983480"/>
            <a:ext cx="50292" cy="25603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983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27048" y="49834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with gaps on ties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246120" y="4983480"/>
            <a:ext cx="2697480" cy="2560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4983480"/>
            <a:ext cx="50292" cy="25603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4983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61688" y="49834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without gaps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080760" y="4983480"/>
            <a:ext cx="2697480" cy="2560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0760" y="4983480"/>
            <a:ext cx="50292" cy="25603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983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96328" y="49834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row number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1480" y="5285232"/>
            <a:ext cx="2697480" cy="2560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5285232"/>
            <a:ext cx="50292" cy="25603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5285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lag(col, n)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27048" y="52852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 rows before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246120" y="5285232"/>
            <a:ext cx="2697480" cy="2560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7" name="Shape 25"/>
          <p:cNvSpPr/>
          <p:nvPr/>
        </p:nvSpPr>
        <p:spPr>
          <a:xfrm>
            <a:off x="3246120" y="5285232"/>
            <a:ext cx="50292" cy="25603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5285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lead(col, 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61688" y="52852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 rows after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080760" y="5285232"/>
            <a:ext cx="2697480" cy="25603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1" name="Shape 29"/>
          <p:cNvSpPr/>
          <p:nvPr/>
        </p:nvSpPr>
        <p:spPr>
          <a:xfrm>
            <a:off x="6080760" y="5285232"/>
            <a:ext cx="50292" cy="25603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5285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sum/avg over()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96328" y="52852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aggregate</a:t>
            </a:r>
            <a:endParaRPr lang="en-US" sz="8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vs DataFrame vs Dataset&lt;T&gt;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8321040" cy="374904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521A"/>
                          </a:solidFill>
                        </a:rPr>
                        <a:t>RDD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DataFrame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2C95E"/>
                          </a:solidFill>
                        </a:rPr>
                        <a:t>Dataset&lt;T&gt;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API 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Low-level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High-level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High-level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Type Safety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Yes (Java generic)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No (Row = untyped)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Yes (your POJO)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Performance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Good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Best (optimized)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Best (optimized)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SQL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Yes full SQL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Partial (.toDF())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Schema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Yes named columns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Yes via Encoder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Java Lambdas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Yes JavaRDD&lt;T&gt;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No typed lambdas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Yes typed lambdas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Introduced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Spark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Spark 1.3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Spark 1.6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Custom algorithms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Most structured tasks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Type-safe ETL POJOs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Recommended?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Sometimes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Yes (most cases)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Yes (type safety)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50474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and Dataset&lt;T&gt; use the same Catalyst optimizer — they have identical performance. The choice is purely about type safety vs flexibility.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Schemas Explicitly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trust inferSchema for production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06324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org.apache.spark.sql.types.*;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Define schema explicitly — faster and no surprises in production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StructType schema = new StructType(new StructField[]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StructField("employee_id", DataTypes.StringType,  false), // false = not nullable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StructField("name",        DataTypes.StringType,  true),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StructField("age",         DataTypes.IntegerType, true),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StructField("salary",      DataTypes.DoubleType,  true),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StructField("active",      DataTypes.BooleanType, true),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StructField("hire_date",   DataTypes.DateType,    true),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df = spark.read()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.schema(schema)          // apply our schema instead of inferring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.option("header", "true")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.csv("employees.csv");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Convert immediately to typed Dataset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employees = df.as(Encoders.bean(Employee.class));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4370832"/>
            <a:ext cx="8321040" cy="91440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4370832"/>
            <a:ext cx="50292" cy="9144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4074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inferSchema in production?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70001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inferSchema scans the entire file once just to guess types — slow on big files.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also guess wrong (e.g., reads '001' as integer, dropping the leading zero). Explicit schema is always safer and faster in production.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A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&amp; Optimization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2907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 · Caching · Pitfalls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in Spark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SQL, get distributed execution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5303520" cy="333756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49743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Register your DataFrame as a SQL temp view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df.createOrReplaceTempView("employees");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Run ANY SQL query — exactly like a database!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results = spark.sql(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department,\n" +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 COUNT(*) AS headcount,\n" +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 ROUND(AVG(salary), 2) AS avg_salary,\n" +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 SUM(CASE WHEN salary &gt; 100000 THEN 1 ELSE 0 END) AS high_earners\n" +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"FROM employees\n" +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"GROUP BY department\n" +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"HAVING COUNT(*) &gt; 5\n" +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"ORDER BY avg_salary DESC"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results.show();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3: Cast SQL result back to typed Dataset if needed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Dataset&lt;DeptSummary&gt; typed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results.as(Encoders.bean(DeptSummary.class));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870448" y="1207008"/>
            <a:ext cx="2862072" cy="98755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5870448" y="1207008"/>
            <a:ext cx="50292" cy="98755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2" name="Text 10"/>
          <p:cNvSpPr/>
          <p:nvPr/>
        </p:nvSpPr>
        <p:spPr>
          <a:xfrm>
            <a:off x="6016752" y="12801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Support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16752" y="1591056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subqueries, window functions, CTEs, CASE WHEN — Spark SQL is HiveQL compatible.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70448" y="2304288"/>
            <a:ext cx="2862072" cy="98755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5" name="Shape 13"/>
          <p:cNvSpPr/>
          <p:nvPr/>
        </p:nvSpPr>
        <p:spPr>
          <a:xfrm>
            <a:off x="5870448" y="2304288"/>
            <a:ext cx="50292" cy="987552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23774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Performance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6752" y="2688336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DataFrame API produce identical execution plans — use whichever is clearer to read.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70448" y="3401568"/>
            <a:ext cx="2862072" cy="98755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9" name="Shape 17"/>
          <p:cNvSpPr/>
          <p:nvPr/>
        </p:nvSpPr>
        <p:spPr>
          <a:xfrm>
            <a:off x="5870448" y="3401568"/>
            <a:ext cx="50292" cy="987552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16752" y="34747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vs Global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16752" y="3785616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createOrReplaceTempView() = session-scoped.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createGlobalTempView() = shared across sessions.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645152"/>
            <a:ext cx="8321040" cy="62179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4645152"/>
            <a:ext cx="50292" cy="6217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681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mix SQL and DataFrame/Dataset APIs freely in the same application. Intermediate results from SQL can be immediately cast to typed Datasets with .as(encoder).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Data — Saving Your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output go?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200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Write as CSV ────────────────────────────────────────────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df.write()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.option("header", "true")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.mode(SaveMode.Overwrite)  // Overwrite | Append | Ignore | ErrorIfExists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.csv("output/results");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Write as Parquet (recommended for large datasets) 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df.write()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.mode(SaveMode.Append)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.partitionBy("department")   // partition on disk by dept — faster queries later!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.parquet("warehouse/employees");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Save to JDBC (database) 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 props = new Properties();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props.put("user", "admin"); props.put("password", "secret");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df.write().mode(SaveMode.Append).jdbc("jdbc:mysql://host/db", "employees", props);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Typed Dataset writes the same way 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typedDS = /* ... */;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typedDS.write().mode(SaveMode.Overwrite).parquet("employees_typed/");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4498848"/>
            <a:ext cx="8321040" cy="73152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4498848"/>
            <a:ext cx="50292" cy="7315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5354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Output is a directory, not a 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8097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writes one file per partition into a folder. You'll see part-00000, part-00001, etc. Use df.coalesce(1).write()... to merge into one file — but this is slow on large data.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Persistence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your data without recomputing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070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Spark recomputes data from scratch every time you run an action. If you use the same DataFrame/Dataset multiple times, cache it!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8321040" cy="1938528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828800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828800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011680"/>
            <a:ext cx="799185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Cache in memory (fast, uses RAM) — lazy: triggers on first action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cached = employees.cache();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Force cache now with an action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cached.count();  // triggers caching immediately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Persist with specific storage level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employees.persist(StorageLevel.MEMORY_AND_DISK());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Free memory when done — IMPORTANT in long-running apps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cached.unpersist();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11480" y="3749040"/>
            <a:ext cx="4069080" cy="65836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3749040"/>
            <a:ext cx="50292" cy="658368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MEMORY_ONLY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" y="4078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Fastest. Uses pure RAM as deserialized Java objects. Data lost if no space — recomputed.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3749040"/>
            <a:ext cx="4069080" cy="65836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3749040"/>
            <a:ext cx="50292" cy="6583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MEMORY_AND_DISK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4078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Spills to disk if RAM is full. Slower fallback. Best default choice for most apps.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480560"/>
            <a:ext cx="4069080" cy="65836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4480560"/>
            <a:ext cx="50292" cy="658368"/>
          </a:xfrm>
          <a:prstGeom prst="rect">
            <a:avLst/>
          </a:prstGeom>
          <a:solidFill>
            <a:srgbClr val="677B8C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4517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DISK_ONLY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" y="4809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Slowest. Good if RAM is very limited. All reads from disk.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4480560"/>
            <a:ext cx="4069080" cy="65836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480560"/>
            <a:ext cx="50292" cy="658368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4517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B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MEMORY_ONLY_SER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4809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bytes in RAM — smaller footprint than objects, slower to access.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52120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cache: ✅ Dataset used in multiple actions  ✅ Iterative ML algorithms  ❌ Don't cache if used only once — wastes memory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Beginner Pitfalls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everyone makes once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84124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07008"/>
            <a:ext cx="50292" cy="84124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1353312"/>
            <a:ext cx="438912" cy="438912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261872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collect() on large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8992" y="157276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df.collect()  // all 10GB → driver RAM → crash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1801368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C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df.show(20)   // just preview  OR  df.write()...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167128"/>
            <a:ext cx="8321040" cy="84124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167128"/>
            <a:ext cx="50292" cy="84124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" y="2313432"/>
            <a:ext cx="438912" cy="438912"/>
          </a:xfrm>
          <a:prstGeom prst="ellipse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313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2221992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count() / other actions repeatedly (triggers full job each time)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78992" y="253288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long n = df.count();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m = filtered.count();  // 2 full jobs!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78992" y="2761488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C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df.cache(); // cache first, then call multiple actions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127248"/>
            <a:ext cx="8321040" cy="84124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3127248"/>
            <a:ext cx="50292" cy="841248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3273552"/>
            <a:ext cx="438912" cy="438912"/>
          </a:xfrm>
          <a:prstGeom prst="ellipse">
            <a:avLst/>
          </a:prstGeom>
          <a:solidFill>
            <a:srgbClr val="6DB7E8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3182112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Non-serializable objects in lambdas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78992" y="349300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MyService svc = new MyService(); // not Serializable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rdd.map(x -&gt; svc.process(x));  // NullPointerException on executor!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78992" y="3721608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C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Implement Serializable, or use broadcast variables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087368"/>
            <a:ext cx="8321040" cy="84124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4087368"/>
            <a:ext cx="50292" cy="8412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" y="4233672"/>
            <a:ext cx="438912" cy="43891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4233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78992" y="4142232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Spark is lazy — adding print statements to debug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78992" y="445312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rdd.map(x -&gt; { System.out.println(x); return x; }); // nothing prints!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78992" y="4681728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C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rdd.map(...).foreach(System.out::println); // foreach is an action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50474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you're not sure if something is expensive — check the Spark UI at http://localhost:4040!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Java-Specific Spark Tips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Java less painful with Spark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1536192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static import to avoid functions.col() everywhere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static org.apache.spark.sql.functions.*;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Then write cleanly: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df.filter(col("age").gt(30))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.select(col("name"), round(col("salary"), 2))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.show();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2852928"/>
            <a:ext cx="4069080" cy="9326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852928"/>
            <a:ext cx="50292" cy="93268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must be Serializable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" y="3200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ships your lambdas to executors over the network. If captured objects aren't Serializable, it fails at runtime. Pass only primitives or Serializable classes into lambdas.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852928"/>
            <a:ext cx="4069080" cy="9326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2852928"/>
            <a:ext cx="50292" cy="932688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col() notation via Column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3200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has no $"colName" syntax (that's Scala). Use col("name") or df.col("name") instead. The static import makes this just as clean.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904488"/>
            <a:ext cx="4069080" cy="9326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3904488"/>
            <a:ext cx="50292" cy="932688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3959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mapToPair() vs map()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" y="42519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key-value operations on RDDs, use mapToPair() (returns JavaPairRDD). Regular map() returns JavaRDD&lt;T&gt; with no key-value concept.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904488"/>
            <a:ext cx="4069080" cy="932688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3904488"/>
            <a:ext cx="50292" cy="9326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3959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vs DataFrame for Java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42519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Java, prefer Dataset&lt;T&gt; over DataFrame (Dataset&lt;Row&gt;) wherever possible. The extra POJO boilerplate pays off in compile-time safety and IDE support.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 — End-to-End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CSV to typed analysis to output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8862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1673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1673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1673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499616"/>
            <a:ext cx="79918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SparkSession spark = SparkSession.builder()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.appName("EmployeeAnalytics").master("local[*]").getOrCreate();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Define explicit schema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StructType schema = new StructType(new StructField[]{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StructField("id",   DataTypes.StringType, false),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StructField("name", DataTypes.StringType, true),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StructField("dept", DataTypes.StringType, true),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StructField("salary", DataTypes.DoubleType, true)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Read → cast to typed Dataset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employees = spark.read()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.schema(schema).option("header","true").csv("employees.csv")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.as(Encoders.bean(Employee.class));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Cache because we use it multiple times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employees.cache();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Typed analysis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highEarners = employees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.filter(e -&gt; e.getSalary() &gt; 90000);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SQL-style aggregation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highEarners.createOrReplaceTempView("high_earners");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summary = spark.sql(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dept, COUNT(*) as cnt, AVG(salary) as avg_sal FROM high_earners GROUP BY dept");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6. Write results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summary.write().mode(SaveMode.Overwrite).parquet("output/dept_summary");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spark.stop();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5193792"/>
            <a:ext cx="8321040" cy="228600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5193792"/>
            <a:ext cx="50292" cy="228600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52120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— explicit schema → .as(encoder) → cache → typed ops + SQL → write Parquet — is the gold standard for Java Spark applications.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from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2860"/>
          </a:xfrm>
          <a:prstGeom prst="rect">
            <a:avLst/>
          </a:prstGeom>
          <a:solidFill>
            <a:srgbClr val="2A3F5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07008"/>
            <a:ext cx="8321040" cy="329184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07008"/>
            <a:ext cx="50292" cy="32918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070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225296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solves the big data problem by distributing computation across many machines using in-memory processing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8321040" cy="329184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591056"/>
            <a:ext cx="50292" cy="3291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59105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609344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is your single entry point — always start here, never use SparkContext directly in new 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975104"/>
            <a:ext cx="8321040" cy="329184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1975104"/>
            <a:ext cx="50292" cy="329184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97510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1993392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are lazy. Actions trigger execution. Understand this deeply — it changes how you debug and optimize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359152"/>
            <a:ext cx="8321040" cy="329184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2359152"/>
            <a:ext cx="50292" cy="329184"/>
          </a:xfrm>
          <a:prstGeom prst="rect">
            <a:avLst/>
          </a:prstGeom>
          <a:solidFill>
            <a:srgbClr val="6DB7E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35915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237744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Dataset&lt;T&gt; with explicit Encoders for type-safe distributed operations — let the compiler catch errors, not 3 AM alerts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743200"/>
            <a:ext cx="8321040" cy="329184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743200"/>
            <a:ext cx="50292" cy="32918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7432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2761488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strategically: only cache DataFrames/Datasets used in multiple actions. Always call unpersist() when done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127248"/>
            <a:ext cx="8321040" cy="329184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3127248"/>
            <a:ext cx="50292" cy="32918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31272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3145536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collect() large datasets to the driver — use write() to save or show(n) to preview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511296"/>
            <a:ext cx="8321040" cy="329184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0" name="Shape 28"/>
          <p:cNvSpPr/>
          <p:nvPr/>
        </p:nvSpPr>
        <p:spPr>
          <a:xfrm>
            <a:off x="411480" y="3511296"/>
            <a:ext cx="50292" cy="32918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35112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7552" y="3529584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lambdas must be Serializable. Prefer Encoders.bean() over javaSerialization() for Dataset&lt;T&gt; operations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895344"/>
            <a:ext cx="8321040" cy="329184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4" name="Shape 32"/>
          <p:cNvSpPr/>
          <p:nvPr/>
        </p:nvSpPr>
        <p:spPr>
          <a:xfrm>
            <a:off x="411480" y="3895344"/>
            <a:ext cx="50292" cy="3291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389534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7552" y="3913632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&gt; CSV for big data. Always partition by a high-cardinality column for faster downstream queries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4279392"/>
            <a:ext cx="8321040" cy="329184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38" name="Shape 36"/>
          <p:cNvSpPr/>
          <p:nvPr/>
        </p:nvSpPr>
        <p:spPr>
          <a:xfrm>
            <a:off x="411480" y="4279392"/>
            <a:ext cx="50292" cy="329184"/>
          </a:xfrm>
          <a:prstGeom prst="rect">
            <a:avLst/>
          </a:prstGeom>
          <a:solidFill>
            <a:srgbClr val="52C95E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" y="427939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C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87552" y="429768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Spark UI (localhost:4040) is your best debugging friend — check it before any optimization attempt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663440"/>
            <a:ext cx="8321040" cy="329184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42" name="Shape 40"/>
          <p:cNvSpPr/>
          <p:nvPr/>
        </p:nvSpPr>
        <p:spPr>
          <a:xfrm>
            <a:off x="411480" y="4663440"/>
            <a:ext cx="50292" cy="329184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" y="46634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87552" y="4681728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DataFrame API produce identical plans. Choose whichever reads more clearly to your team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" y="13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4572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996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building, keep breaking things,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keep checking localhost:4040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364992"/>
            <a:ext cx="7955280" cy="3474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364992"/>
            <a:ext cx="50292" cy="34747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64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spark.apache.org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3364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Official documentation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785616"/>
            <a:ext cx="7955280" cy="3474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85616"/>
            <a:ext cx="50292" cy="34747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856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Spark, 2nd Ed — O'Reilly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74920" y="37856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Best book resource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206240"/>
            <a:ext cx="7955280" cy="3474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206240"/>
            <a:ext cx="50292" cy="34747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spark.apache.org/docs/latest/api/java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4206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Java API reference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4626864"/>
            <a:ext cx="7955280" cy="347472"/>
          </a:xfrm>
          <a:prstGeom prst="rect">
            <a:avLst/>
          </a:prstGeom>
          <a:solidFill>
            <a:srgbClr val="1C2B3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626864"/>
            <a:ext cx="50292" cy="34747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26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databricks.com/learn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4626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Free training &amp; tutorials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8646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with Java  ·  Dataset API Deep Dive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 with Java — Dataset API Deep Dive</dc:title>
  <dc:subject>PptxGenJS Presentation</dc:subject>
  <dc:creator>PptxGenJS</dc:creator>
  <cp:lastModifiedBy>PptxGenJS</cp:lastModifiedBy>
  <cp:revision>1</cp:revision>
  <dcterms:created xsi:type="dcterms:W3CDTF">2026-03-22T14:55:04Z</dcterms:created>
  <dcterms:modified xsi:type="dcterms:W3CDTF">2026-03-22T14:55:04Z</dcterms:modified>
</cp:coreProperties>
</file>