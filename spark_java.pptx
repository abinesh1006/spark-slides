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474720" cy="621792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457200"/>
            <a:ext cx="2560320" cy="621792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6217920" cy="10972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Java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beginner's guide to distributed data processing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Architecture · RDDs · DataFrames · Datasets · SQL · Best Practices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 rot="5400000">
            <a:off x="6858000" y="822960"/>
            <a:ext cx="2011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9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running distributed jobs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25196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89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Data Problem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15636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 Java isn't enough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84248"/>
            <a:ext cx="425196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75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039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Apache Spark?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31343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and philosophy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734056"/>
            <a:ext cx="425196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254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788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Deep Dive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executors, and clusters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483864"/>
            <a:ext cx="425196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7530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538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38130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Maven, JDK, and first run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233672"/>
            <a:ext cx="425196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3251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4288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45628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Spark API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425196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2588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128930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Datasets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49240" y="15636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structured APIs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1984248"/>
            <a:ext cx="425196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0756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20391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 Spark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49240" y="231343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your data like a database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734056"/>
            <a:ext cx="425196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8254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49240" y="2788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34924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count, aggregations, file I/O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483864"/>
            <a:ext cx="425196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57530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49240" y="35387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349240" y="38130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every beginner makes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4233672"/>
            <a:ext cx="425196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3251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349240" y="4288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349240" y="45628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MLlib, and clusters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Data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your laptop isn't enough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023360" cy="164592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Quintillion bytes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created every 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3017520"/>
            <a:ext cx="4023360" cy="86868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3017520"/>
            <a:ext cx="54864" cy="868680"/>
          </a:xfrm>
          <a:prstGeom prst="rect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31089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Machine Limits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3401568"/>
            <a:ext cx="3794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limit • Disk I/O bottleneck • One CPU doing all work • Crashes lose everything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4251960" cy="100584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234440"/>
            <a:ext cx="54864" cy="1005840"/>
          </a:xfrm>
          <a:prstGeom prst="rect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3258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with Traditional Java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36592" y="161848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500GB file into ArrayList? → OutOfMemoryError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over 1 billion records? → Takes hours on one thread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2377440"/>
            <a:ext cx="4251960" cy="896112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2377440"/>
            <a:ext cx="54864" cy="896112"/>
          </a:xfrm>
          <a:prstGeom prst="rect">
            <a:avLst/>
          </a:prstGeom>
          <a:solidFill>
            <a:srgbClr val="34C785"/>
          </a:solidFill>
          <a:ln w="12700">
            <a:solidFill>
              <a:srgbClr val="34C7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4688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Distribute the 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27614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across 100 machines → each handles 1% of the work → combine results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0" y="3410712"/>
            <a:ext cx="4251960" cy="713232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410712"/>
            <a:ext cx="54864" cy="71323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5021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Spark does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36592" y="37947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 across a cluster of computers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Apache Spark?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analytics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is an open-source, distributed computing system designed for fast, large-scale data processing. Think of it as a supercharged way to process massive datasets across many computers simultaneously.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4206240" cy="109728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03120"/>
            <a:ext cx="54864" cy="10972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48716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100x faster than Hadoop MapReduce for in-memory operations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2103120"/>
            <a:ext cx="4206240" cy="109728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103120"/>
            <a:ext cx="54864" cy="1097280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21945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248716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for batch, streaming, SQL, ML, and graph processing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337560"/>
            <a:ext cx="4206240" cy="109728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337560"/>
            <a:ext cx="54864" cy="1097280"/>
          </a:xfrm>
          <a:prstGeom prst="rect">
            <a:avLst/>
          </a:prstGeom>
          <a:solidFill>
            <a:srgbClr val="34C785"/>
          </a:solidFill>
          <a:ln w="12700">
            <a:solidFill>
              <a:srgbClr val="34C7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429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72160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in Java, Scala, Python, and R — works with what you know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337560"/>
            <a:ext cx="4206240" cy="109728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337560"/>
            <a:ext cx="54864" cy="1097280"/>
          </a:xfrm>
          <a:prstGeom prst="rect">
            <a:avLst/>
          </a:prstGeom>
          <a:solidFill>
            <a:srgbClr val="F9A85D"/>
          </a:solidFill>
          <a:ln w="12700">
            <a:solidFill>
              <a:srgbClr val="F9A8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429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3752" y="3721608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clusters of 1 to 10,000+ machines seamlessly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at UC Berkeley (2009) · Open-sourced in 2010 · Apache Foundation top-level project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vs Hadoop MapReduce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Spark won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2606040" cy="457200"/>
          </a:xfrm>
          <a:prstGeom prst="rect">
            <a:avLst/>
          </a:prstGeom>
          <a:solidFill>
            <a:srgbClr val="F4821F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167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1261872"/>
            <a:ext cx="2926080" cy="457200"/>
          </a:xfrm>
          <a:prstGeom prst="rect">
            <a:avLst/>
          </a:prstGeom>
          <a:solidFill>
            <a:srgbClr val="F4821F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31673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MapReduce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61872"/>
            <a:ext cx="2743200" cy="457200"/>
          </a:xfrm>
          <a:prstGeom prst="rect">
            <a:avLst/>
          </a:prstGeom>
          <a:solidFill>
            <a:srgbClr val="F4821F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31673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737360"/>
            <a:ext cx="260604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922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Model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63240" y="1737360"/>
            <a:ext cx="292608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79222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Disk-based (reads/writes disk every step)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74320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7922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(keeps data in RAM)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2606040" cy="457200"/>
          </a:xfrm>
          <a:prstGeom prst="rect">
            <a:avLst/>
          </a:prstGeom>
          <a:solidFill>
            <a:srgbClr val="1A2C42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67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63240" y="2212848"/>
            <a:ext cx="2926080" cy="457200"/>
          </a:xfrm>
          <a:prstGeom prst="rect">
            <a:avLst/>
          </a:prstGeom>
          <a:solidFill>
            <a:srgbClr val="1A2C42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226771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disk I/O at every step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2212848"/>
            <a:ext cx="274320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2677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100x faster in-memory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2688336"/>
            <a:ext cx="260604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7432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063240" y="2688336"/>
            <a:ext cx="292608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743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lots of boilerplate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2688336"/>
            <a:ext cx="274320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expressive APIs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3163824"/>
            <a:ext cx="2606040" cy="457200"/>
          </a:xfrm>
          <a:prstGeom prst="rect">
            <a:avLst/>
          </a:prstGeom>
          <a:solidFill>
            <a:srgbClr val="1A2C42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218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Support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063240" y="3163824"/>
            <a:ext cx="2926080" cy="457200"/>
          </a:xfrm>
          <a:prstGeom prst="rect">
            <a:avLst/>
          </a:prstGeom>
          <a:solidFill>
            <a:srgbClr val="1A2C42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321868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primarily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3163824"/>
            <a:ext cx="274320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2186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Scala, Python, 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3639312"/>
            <a:ext cx="260604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6941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063240" y="3639312"/>
            <a:ext cx="292608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369417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only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26480" y="3639312"/>
            <a:ext cx="274320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69417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Streaming, SQL, ML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0040" y="4114800"/>
            <a:ext cx="2606040" cy="457200"/>
          </a:xfrm>
          <a:prstGeom prst="rect">
            <a:avLst/>
          </a:prstGeom>
          <a:solidFill>
            <a:srgbClr val="1A2C42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1696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063240" y="4114800"/>
            <a:ext cx="2926080" cy="457200"/>
          </a:xfrm>
          <a:prstGeom prst="rect">
            <a:avLst/>
          </a:prstGeom>
          <a:solidFill>
            <a:srgbClr val="1A2C42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54680" y="416966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data to disk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26480" y="4114800"/>
            <a:ext cx="274320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41696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Recomputes lost partitions (lineage)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20040" y="4590288"/>
            <a:ext cx="260604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6451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Real-time?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063240" y="4590288"/>
            <a:ext cx="292608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54680" y="464515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126480" y="4590288"/>
            <a:ext cx="2743200" cy="457200"/>
          </a:xfrm>
          <a:prstGeom prst="rect">
            <a:avLst/>
          </a:prstGeom>
          <a:solidFill>
            <a:srgbClr val="243B55"/>
          </a:solidFill>
          <a:ln w="6350">
            <a:solidFill>
              <a:srgbClr val="243B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46451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Spark Streaming / Structured Streaming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234440"/>
            <a:ext cx="2743200" cy="1005840"/>
          </a:xfrm>
          <a:prstGeom prst="rect">
            <a:avLst/>
          </a:prstGeom>
          <a:solidFill>
            <a:srgbClr val="F4821F"/>
          </a:solidFill>
          <a:ln w="12700">
            <a:solidFill>
              <a:srgbClr val="F9A8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Program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6642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SparkContext / SparkSession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tasks, coordinates jobs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2468880"/>
            <a:ext cx="2743200" cy="749808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Manager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807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/ Standalone / Kubernetes / Mesos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98848" y="2240280"/>
            <a:ext cx="137160" cy="256032"/>
          </a:xfrm>
          <a:prstGeom prst="rect">
            <a:avLst/>
          </a:prstGeom>
          <a:solidFill>
            <a:srgbClr val="8BA3BB"/>
          </a:solidFill>
          <a:ln w="12700">
            <a:solidFill>
              <a:srgbClr val="8BA3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429000"/>
            <a:ext cx="2743200" cy="141732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493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22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Task  Task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(Memory)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00200" y="3218688"/>
            <a:ext cx="137160" cy="228600"/>
          </a:xfrm>
          <a:prstGeom prst="rect">
            <a:avLst/>
          </a:prstGeom>
          <a:solidFill>
            <a:srgbClr val="8BA3BB"/>
          </a:solidFill>
          <a:ln w="12700">
            <a:solidFill>
              <a:srgbClr val="8BA3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3429000"/>
            <a:ext cx="2743200" cy="141732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0" y="3493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822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Task  Task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(Memory)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0560" y="3218688"/>
            <a:ext cx="137160" cy="228600"/>
          </a:xfrm>
          <a:prstGeom prst="rect">
            <a:avLst/>
          </a:prstGeom>
          <a:solidFill>
            <a:srgbClr val="8BA3BB"/>
          </a:solidFill>
          <a:ln w="12700">
            <a:solidFill>
              <a:srgbClr val="8BA3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3429000"/>
            <a:ext cx="2743200" cy="141732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80760" y="3493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822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Task  Task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(Memory)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3218688"/>
            <a:ext cx="137160" cy="228600"/>
          </a:xfrm>
          <a:prstGeom prst="rect">
            <a:avLst/>
          </a:prstGeom>
          <a:solidFill>
            <a:srgbClr val="8BA3BB"/>
          </a:solidFill>
          <a:ln w="12700">
            <a:solidFill>
              <a:srgbClr val="8BA3B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You Must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of Spark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4251960" cy="795528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80160"/>
            <a:ext cx="54864" cy="79552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53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645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computation triggered by an action (like .count() or .collect())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251960" cy="795528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94560"/>
            <a:ext cx="54864" cy="79552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25603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tasks that can run without shuffling data between machines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4251960" cy="795528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108960"/>
            <a:ext cx="54864" cy="79552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182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34747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unit — one task processes one partition on one executor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023360"/>
            <a:ext cx="4251960" cy="795528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4023360"/>
            <a:ext cx="54864" cy="79552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4096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" y="4389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of your dataset. Spark splits data into partitions for parallel processing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36592" y="1280160"/>
            <a:ext cx="4251960" cy="795528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1280160"/>
            <a:ext cx="54864" cy="79552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1353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01184" y="16459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Acyclic Graph — Spark's execution plan showing step dependencies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36592" y="2194560"/>
            <a:ext cx="4251960" cy="795528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2194560"/>
            <a:ext cx="54864" cy="79552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01184" y="25603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Redistributing data across executors. Expensive! Avoid when possible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3108960"/>
            <a:ext cx="4251960" cy="795528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6592" y="3108960"/>
            <a:ext cx="54864" cy="79552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3182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01184" y="34747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don't run until an action is called — Spark plans first, then acts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36592" y="4023360"/>
            <a:ext cx="4251960" cy="795528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4023360"/>
            <a:ext cx="54864" cy="79552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4096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01184" y="4389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of how an RDD was built — used to recover from failures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Spark's Built-in Components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many tools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920240"/>
            <a:ext cx="2743200" cy="1280160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9A8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2148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RDDs &amp; Scheduling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2560320" cy="914400"/>
          </a:xfrm>
          <a:prstGeom prst="rect">
            <a:avLst/>
          </a:prstGeom>
          <a:solidFill>
            <a:srgbClr val="1A2C42"/>
          </a:solidFill>
          <a:ln w="12700">
            <a:solidFill>
              <a:srgbClr val="00B4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325880"/>
            <a:ext cx="54864" cy="914400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435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DataFrames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560320" cy="914400"/>
          </a:xfrm>
          <a:prstGeom prst="rect">
            <a:avLst/>
          </a:prstGeom>
          <a:solidFill>
            <a:srgbClr val="1A2C42"/>
          </a:solidFill>
          <a:ln w="12700">
            <a:solidFill>
              <a:srgbClr val="34C7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25880"/>
            <a:ext cx="54864" cy="914400"/>
          </a:xfrm>
          <a:prstGeom prst="rect">
            <a:avLst/>
          </a:prstGeom>
          <a:solidFill>
            <a:srgbClr val="34C785"/>
          </a:solidFill>
          <a:ln w="12700">
            <a:solidFill>
              <a:srgbClr val="34C7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435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82512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streams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46120"/>
            <a:ext cx="2560320" cy="914400"/>
          </a:xfrm>
          <a:prstGeom prst="rect">
            <a:avLst/>
          </a:prstGeom>
          <a:solidFill>
            <a:srgbClr val="1A2C42"/>
          </a:solidFill>
          <a:ln w="12700">
            <a:solidFill>
              <a:srgbClr val="C586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46120"/>
            <a:ext cx="54864" cy="914400"/>
          </a:xfrm>
          <a:prstGeom prst="rect">
            <a:avLst/>
          </a:prstGeom>
          <a:solidFill>
            <a:srgbClr val="C586C0"/>
          </a:solidFill>
          <a:ln w="12700">
            <a:solidFill>
              <a:srgbClr val="C58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355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246120"/>
            <a:ext cx="2560320" cy="914400"/>
          </a:xfrm>
          <a:prstGeom prst="rect">
            <a:avLst/>
          </a:prstGeom>
          <a:solidFill>
            <a:srgbClr val="1A2C42"/>
          </a:solidFill>
          <a:ln w="12700">
            <a:solidFill>
              <a:srgbClr val="F9A8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3246120"/>
            <a:ext cx="54864" cy="914400"/>
          </a:xfrm>
          <a:prstGeom prst="rect">
            <a:avLst/>
          </a:prstGeom>
          <a:solidFill>
            <a:srgbClr val="F9A85D"/>
          </a:solidFill>
          <a:ln w="12700">
            <a:solidFill>
              <a:srgbClr val="F9A8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3558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82512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processing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run on Spark Core — you get all of these just by adding one dependency!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Your Environment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single 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4114800" cy="77724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77724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533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64592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11 or 17 (LTS)  ·  Maven 3.6+  ·  IntelliJ IDEA (recommended)  ·  At least 4GB 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8458200" cy="274320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762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22402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22402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22402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50592"/>
            <a:ext cx="82296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pom.xml — add both dependencies --&gt;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org.apache.spark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&lt;/groupId&gt;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spark-core_2.12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3.5.0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&lt;/version&gt;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org.apache.spark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&lt;/groupId&gt;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spark-sql_2.12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&lt;/artifactId&gt;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Includes DataFrames + SQL --&gt;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3.5.0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&lt;/version&gt;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5029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spark-sql includes spark-core. For most projects, you only need spark-sql.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— The Entry Point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gateway into the Spark world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5303520" cy="274320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30352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507492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org.apache.spark.sql.SparkSession;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SparkSession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spark =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SparkSession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.builder()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.appName(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"MyFirstApp"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.master(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"local[*]"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* = use all CPU cores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.getOrCreate();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Always stop Spark when done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spark.stop();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06440" y="1261872"/>
            <a:ext cx="3017520" cy="91440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261872"/>
            <a:ext cx="54864" cy="914400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1032" y="13533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.master() options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71032" y="164592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"local"     — 1 thread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"local[4]"  — 4 threads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"local[*]"  — all cores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"spark://..." — real cluster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2304288"/>
            <a:ext cx="3017520" cy="82296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2304288"/>
            <a:ext cx="54864" cy="82296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23957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vs SparkContext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71032" y="268833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Spark (&lt; 2.0) used SparkContext. SparkSession wraps it — always use SparkSession in modern code.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06440" y="3273552"/>
            <a:ext cx="3017520" cy="74980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6440" y="3273552"/>
            <a:ext cx="54864" cy="749808"/>
          </a:xfrm>
          <a:prstGeom prst="rect">
            <a:avLst/>
          </a:prstGeom>
          <a:solidFill>
            <a:srgbClr val="34C785"/>
          </a:solidFill>
          <a:ln w="12700">
            <a:solidFill>
              <a:srgbClr val="34C7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71032" y="33649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getOrCreate()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71032" y="36576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existing session if one exists. Safe to call multiple times — won't create duplicates.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41605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is the single entry point for all Spark functionality since Spark 2.0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Evaluation — The Most Important Concept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plans first, acts second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 trips up EVERY beginner. Understand it deeply.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2743200" cy="242316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9768" y="2286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3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rdd.filter(...)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D3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rdd.map(...)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D3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df.select(...)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yet!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just records intent.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651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91840" y="1755648"/>
            <a:ext cx="2743200" cy="242316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01568" y="2286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Transformations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5D3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rdd.filter(...)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D3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.map(...)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5D3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.groupBy(...)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01568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nothing runs.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DAG plan.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2651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63640" y="1755648"/>
            <a:ext cx="2743200" cy="242316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3368" y="22860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3368" y="26517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.count()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.collect()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.show()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.saveAsTextFile()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73368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Spark executes!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run at once.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Spark optimizes the entire plan before running — it can skip steps, reorder, and combine operations for maximum efficiency.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— Resilient Distributed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Spark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RDD is an immutable, distributed collection of objects. It's the original Spark data structure.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22960" cy="822960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17320" y="1874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23113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— if a node crashes, Spark can recompute the lost data from its lineage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22960" cy="822960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9077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17320" y="2862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2186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across many machines — each machine handles a partition of the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803904"/>
            <a:ext cx="822960" cy="822960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9534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417320" y="38496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0624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any Java objects — integers, strings, custom POJOs, tuples, etc.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617720"/>
            <a:ext cx="4206240" cy="347472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4617720"/>
            <a:ext cx="54864" cy="347472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47091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Immutable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" y="5001768"/>
            <a:ext cx="3977640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modify an RDD. Every transformation creates a new one.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4617720"/>
            <a:ext cx="4206240" cy="347472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4617720"/>
            <a:ext cx="54864" cy="34747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47091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recommendation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28032" y="5001768"/>
            <a:ext cx="3977640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DataFrames/Datasets instead of RDDs for most use cases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RDDs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make 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365760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 need JavaSparkContext for RDDs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JavaSparkContext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 = 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JavaSparkContext(spark.sparkContext());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Method 1: Parallelize an existing Java collection ────────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List&lt;Integer&gt;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numbers =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.asList(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1, 2, 3, 4, 5, 6, 7, 8, 9, 10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JavaRDD&lt;Integer&gt;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rdd1 = sc.parallelize(numbers);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Method 2: Read from a text file ─────────────────────────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rdd2 = sc.textFile(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"data/patients.csv"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Each line = one element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Method 3: Convert a DataFrame to RDD ────────────────────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JavaRDD&lt;Row&gt;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rdd3 = df.javaRDD();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Convert existing DataFrame back to RDD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5047488"/>
            <a:ext cx="8458200" cy="347472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5047488"/>
            <a:ext cx="54864" cy="347472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5138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5431536"/>
            <a:ext cx="8229600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splits the data into partitions automatically. More partitions = more parallelism. You can hint: sc.parallelize(list, 8) creates 8 partitions.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Transformations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operations that shape your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352044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words = sc.textFile(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"words.txt"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map() — transform each element into something else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JavaRDD&lt;Integer&gt;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lengths = words.map(word -&gt; word.length());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filter() — keep only elements matching a condition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longWords = words.filter(w -&gt; w.length() &gt; 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flatMap() — each element can produce 0 or many results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allWords = words.flatMap(line -&gt;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.asList(line.split(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)).iterator());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distinct() — removes duplicates   mapToPair() — creates key-value pairs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unique = allWords.distinct();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JavaPairRDD&lt;String,Integer&gt;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pairs = allWords.mapToPair(w -&gt; new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Tuple2&lt;&gt;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(w, 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None of these run yet! They just build the execution plan.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actual computation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5486400" cy="356616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525780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count() — how many elements?
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= rdd.count();  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10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collect() — bring ALL data to driver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 = rdd.collect();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⚠️ careful with big data!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first() / take() — small samples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one = rdd.first();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top5 = rdd.take(5);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reduce() — combine elements
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 = intRdd.reduce((a, b) -&gt; a + b);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saveAsTextFile() — write to disk/HDFS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rdd.saveAsTextFile(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"output/results"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1261872"/>
            <a:ext cx="2834640" cy="166420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1261872"/>
            <a:ext cx="54864" cy="1664208"/>
          </a:xfrm>
          <a:prstGeom prst="rect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13533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collect() Warning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53912" y="16459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all data into driver memory. Fine for small datasets. On 1TB data? OutOfMemoryError. Always use take() or saveAsTextFile() for large results.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3090672"/>
            <a:ext cx="2834640" cy="166420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89320" y="3090672"/>
            <a:ext cx="54864" cy="1664208"/>
          </a:xfrm>
          <a:prstGeom prst="rect">
            <a:avLst/>
          </a:prstGeom>
          <a:solidFill>
            <a:srgbClr val="34C785"/>
          </a:solidFill>
          <a:ln w="12700">
            <a:solidFill>
              <a:srgbClr val="34C7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31821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foreach() vs collect()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53912" y="34747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rdd.foreach(System.out::println) runs on executors, not driver. collect().forEach() brings data to driver first — avoid for big data.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Example: Word Count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'Hello World' of distributed computing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352044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JavaSparkContext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 = 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JavaSparkContext(spark.sparkContext());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JavaRDD&lt;String&gt;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lines = sc.textFile(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"book.txt"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Long&gt;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wordCounts = lines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.flatMap(line -&gt;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.asList(line.split(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"\\s+"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)).iterator())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split into words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.mapToPair(word -&gt; 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Tuple2&lt;&gt;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(word, 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1L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         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pair each word with 1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.reduceByKey((a, b) -&gt; a + b)           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 counts per word (ACTION!)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.collectAsMap();                        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bring result to driver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wordCounts.forEach((word, count) -&gt;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System.out.println(word +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: 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count));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49194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runs distributed — Spark automatically splits the file across partitions and counts in parallel across all cores.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— The Modern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data, structured thinking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Dataset of Rows — like a table in a relational database, but distributed across your cluster. This is what you'll use 90% of the time.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93392"/>
          <a:ext cx="8503920" cy="187452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914400"/>
                <a:gridCol w="1645920"/>
                <a:gridCol w="2560320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C2E"/>
                          </a:solidFill>
                        </a:rPr>
                        <a:t>patient_id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8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C2E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8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C2E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8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C2E"/>
                          </a:solidFill>
                        </a:rPr>
                        <a:t>creatinine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8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C2E"/>
                          </a:solidFill>
                        </a:rPr>
                        <a:t>district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821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P001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Ravi Kumar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45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Dharmapuri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P002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Meena Devi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62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2.8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Salem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P003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Arjun Nair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38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0.9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Dharmapuri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P004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Priya Siva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55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3.1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Krishnagiri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B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Schema-aware: 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3736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has a named type. Spark catches errors early.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45152" y="4023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SQL-ready: 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62472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it with full SQL syntax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Optimized: 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37360" y="4480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optimizer rewrites your query for speed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45152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Interoperable: 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62472" y="4480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CSV, JSON, Parquet, JDBC, and more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into DataFrames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reads almost everything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374904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CSV ─────────────────────────────────────────────────────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 = spark.read()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.option(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"header"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first row = column names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.option(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"inferSchema"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auto-detect int/string/etc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.csv(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"data/patients.csv"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JSON ────────────────────────────────────────────────────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jsonDf = spark.read().json(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"data/records.json"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Parquet (best performance for big data) ─────────────────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parDf = spark.read().parquet(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"data/warehouse/"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Print schema and preview ────────────────────────────────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df.printSchema();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shows column names and types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df.show(5);       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prints first 5 rows to console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51206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is the recommended format for large data — it's columnar, compressed, and Spark reads it 10x faster than CSV.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Operations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structured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3639312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static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org.apache.spark.sql.functions.*;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 ALL functions like col(), avg(), count()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select() — pick columns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df.select(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"creatinine"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).show();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filter() — WHERE clause equivalent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df.filter(col(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"creatinine"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).gt(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)).show();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groupBy + agg — GROUP BY equivalent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"district"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.agg(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"patient_id"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).alias(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"total_patients"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"creatinine"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).alias(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"avg_creatinine"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.orderBy(desc(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"avg_creatinine"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.show();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50292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withColumn()  — add/replace a column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drop()        — remove columns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        — join two DataFrames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distinct()    — remove duplicate rows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limit(n)      — take first n rows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sort() / orderBy() — sort results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Datasets — Type Safety in Spark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errors at compile time, not runtime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379476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Create a Java POJO (must have getters + setters)
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creatinine;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age;
  // ... getters + setters ...
}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Create an Encoder for the POJO type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Encoder&lt;Patient&gt;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encoder = Encoders.bean(Patient.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3: Read data into typed Dataset&lt;Patient&gt;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Dataset&lt;Patient&gt;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patients = spark.read()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.option(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"header"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).csv(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"patients.csv"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).as(encoder);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4: Use typed Java lambdas — compile-time safety!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.filter(p -&gt; p.getCreatinine() &gt;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.map(p -&gt; p.getName() +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: 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p.getCreatinine(), Encoders.STRING())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.show();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51846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errors (wrong field name, wrong type) will fail at compile time — not when your overnight job crashes at 3 AM.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vs DataFrame vs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1828800" cy="42062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984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1261872"/>
            <a:ext cx="2240280" cy="420624"/>
          </a:xfrm>
          <a:prstGeom prst="rect">
            <a:avLst/>
          </a:prstGeom>
          <a:solidFill>
            <a:srgbClr val="F45B5B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2984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2240280" cy="420624"/>
          </a:xfrm>
          <a:prstGeom prst="rect">
            <a:avLst/>
          </a:prstGeom>
          <a:solidFill>
            <a:srgbClr val="00B4C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29844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1261872"/>
            <a:ext cx="1920240" cy="420624"/>
          </a:xfrm>
          <a:prstGeom prst="rect">
            <a:avLst/>
          </a:prstGeom>
          <a:solidFill>
            <a:srgbClr val="34C78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1298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Dataset&lt;T&gt;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1709928"/>
            <a:ext cx="182880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74650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Level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1709928"/>
            <a:ext cx="224028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9152" y="1746504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709928"/>
            <a:ext cx="224028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746504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1709928"/>
            <a:ext cx="192024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74650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139696"/>
            <a:ext cx="182880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17627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2139696"/>
            <a:ext cx="22402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2176272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(Java generic)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139696"/>
            <a:ext cx="22402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2176272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(Row is untyped)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2139696"/>
            <a:ext cx="192024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217627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(your POJO)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569464"/>
            <a:ext cx="182880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260604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0" y="2569464"/>
            <a:ext cx="224028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59152" y="260604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569464"/>
            <a:ext cx="224028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260604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(optimized)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49440" y="2569464"/>
            <a:ext cx="192024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260604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(optimized)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2999232"/>
            <a:ext cx="182880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303580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Support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0" y="2999232"/>
            <a:ext cx="22402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59152" y="30358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2999232"/>
            <a:ext cx="22402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035808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49440" y="2999232"/>
            <a:ext cx="192024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22592" y="303580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3429000"/>
            <a:ext cx="182880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46557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0" y="3429000"/>
            <a:ext cx="224028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59152" y="3465576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3429000"/>
            <a:ext cx="224028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6592" y="3465576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949440" y="3429000"/>
            <a:ext cx="192024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22592" y="346557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" y="3858768"/>
            <a:ext cx="182880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" y="389534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3858768"/>
            <a:ext cx="22402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59152" y="3895344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algorithms, fine control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63440" y="3858768"/>
            <a:ext cx="22402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3895344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structured data tasks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949440" y="3858768"/>
            <a:ext cx="192024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22592" y="389534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transformations on POJOs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0040" y="4288536"/>
            <a:ext cx="182880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3192" y="432511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286000" y="4288536"/>
            <a:ext cx="224028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59152" y="4325112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1.0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63440" y="4288536"/>
            <a:ext cx="224028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36592" y="4325112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1.3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949440" y="4288536"/>
            <a:ext cx="1920240" cy="4114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22592" y="432511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1.6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20040" y="4718304"/>
            <a:ext cx="182880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3192" y="475488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Recommended?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286000" y="4718304"/>
            <a:ext cx="22402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59152" y="475488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663440" y="4718304"/>
            <a:ext cx="224028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4754880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(most cases)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949440" y="4718304"/>
            <a:ext cx="1920240" cy="411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22592" y="475488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(type safety)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in Spark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SQL, get distributed execution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352044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1: Register your DataFrame as a SQL temp view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df.createOrReplaceTempView(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"patients"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Step 2: Run ANY SQL query — exactly like a database!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 = spark.sql(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district,\n"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COUNT(*) AS total_patients,\n"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ROUND(AVG(creatinine), 2) AS avg_creatinine,\n"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SUM(CASE WHEN creatinine &gt; 2.0 THEN 1 ELSE 0 END) AS high_risk\n"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"FROM patients\n"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"GROUP BY district\n"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"HAVING COUNT(*) &gt; 10\n"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"ORDER BY avg_creatinine DESC"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results.show();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919472"/>
            <a:ext cx="2743200" cy="47548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4919472"/>
            <a:ext cx="54864" cy="47548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5010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Support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5303520"/>
            <a:ext cx="2514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subqueries, window functions, CTEs — Spark SQL is HiveQL compatible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4919472"/>
            <a:ext cx="2743200" cy="47548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4919472"/>
            <a:ext cx="54864" cy="47548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5010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56432" y="5303520"/>
            <a:ext cx="2514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DataFrame API produce identical execution plans — use whichever is clearer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919472"/>
            <a:ext cx="2743200" cy="47548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4919472"/>
            <a:ext cx="54864" cy="47548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50109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vs Global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28232" y="5303520"/>
            <a:ext cx="2514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createOrReplaceTempView() = session-scoped. createGlobalTempView() = shared across sessions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Data — Saving Your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output go?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342900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Write as CSV ────────────────────────────────────────────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.option(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"header"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.mode(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SaveMode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.Overwrite)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Overwrite | Append | Ignore | ErrorIfExists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.csv(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"output/results"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Write as Parquet (recommended for large datasets) ───────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.mode(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SaveMode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.partitionBy(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"district"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partition on disk by district column — faster queries later!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.parquet(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"warehouse/patients"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Save to JDBC (database) ─────────────────────────────────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df.write().mode(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SaveMode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.Append).jdbc(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"jdbc:mysql://host/db"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"patients"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props);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828032"/>
            <a:ext cx="8458200" cy="50292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4828032"/>
            <a:ext cx="54864" cy="502920"/>
          </a:xfrm>
          <a:prstGeom prst="rect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4919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Output is a directory, not a file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5212080"/>
            <a:ext cx="8229600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writes one file per partition into a folder. You'll see part-00000, part-00001, etc. Use df.coalesce(1).write()... to merge into one file — but this is slow for big data.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 Persistence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your data without recomputing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Spark recomputes data from scratch every time you run an action. If you use the same DataFrame multiple times, cache it!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5120640" cy="228600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74520"/>
            <a:ext cx="512064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938528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193852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1938528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48840"/>
            <a:ext cx="48920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Cache in memory (fast, uses RAM)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cached = df.cache();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lazy!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Force cache now with an action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cached.count();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triggers caching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Persist with specific storage level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df.persist(StorageLevel.MEMORY_AND_DISK());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Free memory when done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cached.unpersist();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23560" y="1874520"/>
            <a:ext cx="3200400" cy="50292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9110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MEMORY_ONLY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15000" y="21305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uses pure RAM. Data lost if no space.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23560" y="2441448"/>
            <a:ext cx="3200400" cy="50292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24780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MEMORY_AND_DISK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15000" y="26974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Spills to disk if RAM full. Slower fallback.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23560" y="3008376"/>
            <a:ext cx="3200400" cy="50292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3044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DISK_ONLY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15000" y="32644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Slowest. Good if RAM is very limited.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3575304"/>
            <a:ext cx="3200400" cy="50292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36118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MEMORY_ONLY_SER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15000" y="38313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— smaller footprint, slower access.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270248"/>
            <a:ext cx="8458200" cy="594360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270248"/>
            <a:ext cx="54864" cy="59436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4361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cache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" y="4654296"/>
            <a:ext cx="8229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DataFrame used in multiple actions  ✅ Iterative ML algorithms  ❌ Don't cache if used only once — wastes memory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Schemas Explicitly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trust inferSchema for production code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338328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org.apache.spark.sql.types.*;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schema explicitly — faster and no surprises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StructType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schema = 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StructType(new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StructField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{
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StructField(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"patient_id"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DataTypes.StringType,  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 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false = not nullable
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StructField(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DataTypes.StringType,  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StructField(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DataTypes.IntegerType, 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
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StructField(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"creatinine"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DataTypes.DoubleType,  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});
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Dataset&lt;Row&gt;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 = spark.read()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.schema(schema)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apply our schema instead of inferring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.option(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"header"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).csv(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"patients.csv"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773168"/>
            <a:ext cx="8458200" cy="47548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4773168"/>
            <a:ext cx="54864" cy="475488"/>
          </a:xfrm>
          <a:prstGeom prst="rect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4864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inferSchema in production?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5157216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inferSchema scans the entire file once just to guess types — slow on big files. It can also guess wrong (e.g., reads '001' as integer, dropping the leading zero). Explicit schema is always safer.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Beginner Pitfalls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everyone makes once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8686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71600"/>
            <a:ext cx="347472" cy="347472"/>
          </a:xfrm>
          <a:prstGeom prst="ellipse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3350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collect() on large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093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df.collect()  // all 10GB → driver RAM → crash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60934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df.show(20)   // just preview  OR  df.write()...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8458200" cy="8686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331720"/>
            <a:ext cx="347472" cy="347472"/>
          </a:xfrm>
          <a:prstGeom prst="ellipse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2951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count() repeatedly (triggers full job each time)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5694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long n = df.count();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m = filteredDf.count();  // 2 full jobs!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256946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df.cache(); // cache first, then call multiple actions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8458200" cy="8686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291840"/>
            <a:ext cx="347472" cy="347472"/>
          </a:xfrm>
          <a:prstGeom prst="ellipse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2552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non-serializable objects in lambdas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5295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MyService svc = new MyService(); // not Serializable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rdd.map(x -&gt; svc.process(x));  // NullPointerException on executor!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352958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Implement Serializable, or use broadcast variables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142232"/>
            <a:ext cx="8458200" cy="868680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4251960"/>
            <a:ext cx="347472" cy="347472"/>
          </a:xfrm>
          <a:prstGeom prst="ellipse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251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215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Spark is lazy — adding print statements to debug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4897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5B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rdd.map(x -&gt; { System.out.println(x); return x; }); // nothing prints!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160" y="448970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rdd.map(...).foreach(System.out::println); // foreach is an action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5074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you're not sure if something is expensive — check the Spark UI!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Web UI — Your Debugging Tool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http://localhost:4040 when running locally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743200" cy="137160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743200" cy="3840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80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Tab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013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job triggered by your actions. Which ones are slow? Which failed?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743200" cy="137160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2743200" cy="3840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80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Tab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8013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has stages. See which stage is the bottleneck and why.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325880"/>
            <a:ext cx="2743200" cy="137160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325880"/>
            <a:ext cx="2743200" cy="3840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3807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Tab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80136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cached in memory, how much space it uses, how many partitions.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834640"/>
            <a:ext cx="2743200" cy="137160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34640"/>
            <a:ext cx="2743200" cy="3840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895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Tab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3101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memory and disk usage per machine. Spot memory pressure or GC issues.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0" y="2834640"/>
            <a:ext cx="2743200" cy="137160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8895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Tab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33101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DataFrames — see the execution plan, including optimizations applied.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2834640"/>
            <a:ext cx="2743200" cy="137160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2834640"/>
            <a:ext cx="2743200" cy="38404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288950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Visual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33101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graph of your execution plan — understand what Spark is actually doing.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0040" y="44622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Spark UI disappears when your app ends. For production clusters, use Spark History Server to view past runs.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Java-Specific Spark Tips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Java less painful with Spark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5303520" cy="237744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30352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507492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static import to avoid functions.col() everywhere
</a:t>
            </a:r>
            <a:pPr indent="0" marL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static </a:t>
            </a:r>
            <a:pPr indent="0" marL="0">
              <a:buNone/>
            </a:pPr>
            <a:r>
              <a:rPr lang="en-US" sz="11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org.apache.spark.sql.functions.*;
</a:t>
            </a:r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Then write cleanly: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df.filter(col(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).gt(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.select(col(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round(col(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"creatinine"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pPr indent="0" marL="0">
              <a:buNone/>
            </a:pPr>
            <a:r>
              <a:rPr lang="en-US" sz="1150" dirty="0">
                <a:solidFill>
                  <a:srgbClr val="F9A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.show();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794760"/>
            <a:ext cx="4206240" cy="56692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794760"/>
            <a:ext cx="54864" cy="566928"/>
          </a:xfrm>
          <a:prstGeom prst="rect">
            <a:avLst/>
          </a:prstGeom>
          <a:solidFill>
            <a:srgbClr val="F45B5B"/>
          </a:solidFill>
          <a:ln w="12700">
            <a:solidFill>
              <a:srgbClr val="F45B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8862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must be Serializable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417880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ships your lambdas to executors over the network. If captured objects aren't Serializable, it fails at runtime. Pass only primitives or Serializable classes into lambdas.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794760"/>
            <a:ext cx="4206240" cy="56692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794760"/>
            <a:ext cx="54864" cy="566928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8862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 col notation via Column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417880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has no $"colName" syntax (that's Scala). Use col("name") or df.col("name") instead. The static import makes this just as clean.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480560"/>
            <a:ext cx="4206240" cy="56692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480560"/>
            <a:ext cx="54864" cy="566928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4572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mapToPair() vs map()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486460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key-value operations on RDDs, use mapToPair() (returns JavaPairRDD). Regular map() returns JavaRDD&lt;T&gt; with no key-value concept.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4480560"/>
            <a:ext cx="4206240" cy="566928"/>
          </a:xfrm>
          <a:prstGeom prst="rect">
            <a:avLst/>
          </a:prstGeom>
          <a:solidFill>
            <a:srgbClr val="1A2C42"/>
          </a:solidFill>
          <a:ln w="10160">
            <a:solidFill>
              <a:srgbClr val="243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4480560"/>
            <a:ext cx="54864" cy="566928"/>
          </a:xfrm>
          <a:prstGeom prst="rect">
            <a:avLst/>
          </a:prstGeom>
          <a:solidFill>
            <a:srgbClr val="34C785"/>
          </a:solidFill>
          <a:ln w="12700">
            <a:solidFill>
              <a:srgbClr val="34C78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4572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PySpark for exploration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486460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is verbose. For quick experiments and data exploration, PySpark in a Jupyter notebook is much faster. Switch to Java for production jobs.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a Real Cluster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local[*]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8458200" cy="2103120"/>
          </a:xfrm>
          <a:prstGeom prst="rect">
            <a:avLst/>
          </a:prstGeom>
          <a:solidFill>
            <a:srgbClr val="0D1117"/>
          </a:solidFill>
          <a:ln w="1524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45820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32588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32588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132588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36192"/>
            <a:ext cx="8229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Submit your jar to a cluster using spark-submit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spark-submit \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--class com.example.MyApp \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--master spark://master-node:7077 \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--num-executors 10 \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--executor-memory 4g \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--executor-cores 4 \
</a:t>
            </a:r>
            <a:pPr indent="0" marL="0">
              <a:buNone/>
            </a:pPr>
            <a:r>
              <a:rPr lang="en-US" sz="1150" dirty="0">
                <a:solidFill>
                  <a:srgbClr val="E8E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target/my-app-1.0.jar </a:t>
            </a:r>
            <a:pPr indent="0" marL="0">
              <a:buNone/>
            </a:pPr>
            <a:r>
              <a:rPr lang="en-US" sz="1150" dirty="0">
                <a:solidFill>
                  <a:srgbClr val="34C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input.csv output/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566160"/>
            <a:ext cx="274320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566160"/>
            <a:ext cx="54864" cy="621792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Standalone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" y="3895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Simplest. Run your own cluster. Good for learning.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566160"/>
            <a:ext cx="274320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3566160"/>
            <a:ext cx="54864" cy="621792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YARN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456432" y="3895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in enterprise. Runs on Hadoop clusters.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566160"/>
            <a:ext cx="274320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34C7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566160"/>
            <a:ext cx="54864" cy="621792"/>
          </a:xfrm>
          <a:prstGeom prst="rect">
            <a:avLst/>
          </a:prstGeom>
          <a:solidFill>
            <a:srgbClr val="34C785"/>
          </a:solidFill>
          <a:ln w="12700">
            <a:solidFill>
              <a:srgbClr val="34C7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36118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28232" y="38953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Container-native. Good for cloud-native orgs.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70248"/>
            <a:ext cx="274320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C586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270248"/>
            <a:ext cx="54864" cy="621792"/>
          </a:xfrm>
          <a:prstGeom prst="rect">
            <a:avLst/>
          </a:prstGeom>
          <a:solidFill>
            <a:srgbClr val="C586C0"/>
          </a:solidFill>
          <a:ln w="12700">
            <a:solidFill>
              <a:srgbClr val="C586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4315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EMR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" y="4599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Spark on AWS. No cluster setup needed.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270248"/>
            <a:ext cx="274320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F9A85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4270248"/>
            <a:ext cx="54864" cy="621792"/>
          </a:xfrm>
          <a:prstGeom prst="rect">
            <a:avLst/>
          </a:prstGeom>
          <a:solidFill>
            <a:srgbClr val="F9A85D"/>
          </a:solidFill>
          <a:ln w="12700">
            <a:solidFill>
              <a:srgbClr val="F9A8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4315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A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456432" y="4599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Spark platform. Most popular in industry.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270248"/>
            <a:ext cx="2743200" cy="621792"/>
          </a:xfrm>
          <a:prstGeom prst="rect">
            <a:avLst/>
          </a:prstGeom>
          <a:solidFill>
            <a:srgbClr val="1A2C42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4270248"/>
            <a:ext cx="54864" cy="621792"/>
          </a:xfrm>
          <a:prstGeom prst="rect">
            <a:avLst/>
          </a:prstGeom>
          <a:solidFill>
            <a:srgbClr val="00B4C5"/>
          </a:solidFill>
          <a:ln w="12700">
            <a:solidFill>
              <a:srgbClr val="00B4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4315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Dataproc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28232" y="4599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Spark on GCP. Auto-scales easily.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— Keep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Spark ecosystem is huge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4206240" cy="1143000"/>
          </a:xfrm>
          <a:prstGeom prst="rect">
            <a:avLst/>
          </a:prstGeom>
          <a:solidFill>
            <a:srgbClr val="1A2C42"/>
          </a:solidFill>
          <a:ln w="12700">
            <a:solidFill>
              <a:srgbClr val="00B4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399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1399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33272" y="1737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real-time data streams using the same DataFrame API. Read from Kafka, write to databases continuously.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206240" cy="1143000"/>
          </a:xfrm>
          <a:prstGeom prst="rect">
            <a:avLst/>
          </a:prstGeom>
          <a:solidFill>
            <a:srgbClr val="1A2C42"/>
          </a:solidFill>
          <a:ln w="12700">
            <a:solidFill>
              <a:srgbClr val="34C7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18888" y="13990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22392" y="1399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C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MLlib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22392" y="1737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machine learning: linear regression, clustering, random forests — all at cluster scale.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87752"/>
            <a:ext cx="4206240" cy="1143000"/>
          </a:xfrm>
          <a:prstGeom prst="rect">
            <a:avLst/>
          </a:prstGeom>
          <a:solidFill>
            <a:srgbClr val="1A2C42"/>
          </a:solidFill>
          <a:ln w="12700">
            <a:solidFill>
              <a:srgbClr val="F9A8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26609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A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33272" y="2660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A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33272" y="299923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 on your Spark data lake. Handle updates, deletes, and schema changes safely.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587752"/>
            <a:ext cx="4206240" cy="1143000"/>
          </a:xfrm>
          <a:prstGeom prst="rect">
            <a:avLst/>
          </a:prstGeom>
          <a:solidFill>
            <a:srgbClr val="1A2C42"/>
          </a:solidFill>
          <a:ln w="12700">
            <a:solidFill>
              <a:srgbClr val="C586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18888" y="26609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22392" y="2660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on Kubernetes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22392" y="299923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Spark in containers, auto-scale jobs, and integrate with modern cloud-native infrastructure.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49624"/>
            <a:ext cx="4206240" cy="1143000"/>
          </a:xfrm>
          <a:prstGeom prst="rect">
            <a:avLst/>
          </a:prstGeom>
          <a:solidFill>
            <a:srgbClr val="1A2C42"/>
          </a:solidFill>
          <a:ln w="12700">
            <a:solidFill>
              <a:srgbClr val="F482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39227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33272" y="3922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33272" y="42611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 partitioning, broadcast joins, salting for skew, and the Catalyst + Tungsten optimizers.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849624"/>
            <a:ext cx="4206240" cy="1143000"/>
          </a:xfrm>
          <a:prstGeom prst="rect">
            <a:avLst/>
          </a:prstGeom>
          <a:solidFill>
            <a:srgbClr val="1A2C42"/>
          </a:solidFill>
          <a:ln w="12700">
            <a:solidFill>
              <a:srgbClr val="7EC8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39227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422392" y="3922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Platform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22392" y="42611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used Spark platform in industry. Learn notebooks, Unity Catalog, and Delta Live Tables.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955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from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8458200" cy="329184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353312"/>
            <a:ext cx="219456" cy="219456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533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35331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solves the big data problem by distributing computation across many machines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73352"/>
            <a:ext cx="845820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728216"/>
            <a:ext cx="219456" cy="219456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282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72821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 is your entry point — always start here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048256"/>
            <a:ext cx="8458200" cy="329184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103120"/>
            <a:ext cx="219456" cy="219456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1031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210312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are lazy. Actions trigger execution. Understand this deeply.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423160"/>
            <a:ext cx="845820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478024"/>
            <a:ext cx="219456" cy="219456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478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247802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DataFrames / Datasets — not raw RDDs — for most work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798064"/>
            <a:ext cx="8458200" cy="329184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852928"/>
            <a:ext cx="219456" cy="219456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852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28529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strategically when you reuse the same data in multiple actions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172968"/>
            <a:ext cx="845820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227832"/>
            <a:ext cx="219456" cy="219456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227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" y="32278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collect() large datasets to the driver — use write() or show() instead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547872"/>
            <a:ext cx="8458200" cy="329184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602736"/>
            <a:ext cx="219456" cy="219456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602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" y="36027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lambdas must be Serializable when used in Spark operations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3922776"/>
            <a:ext cx="845820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977640"/>
            <a:ext cx="219456" cy="219456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977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" y="397764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Spark UI (localhost:4040) is your best debugging friend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4297680"/>
            <a:ext cx="8458200" cy="329184"/>
          </a:xfrm>
          <a:prstGeom prst="rect">
            <a:avLst/>
          </a:prstGeom>
          <a:solidFill>
            <a:srgbClr val="1A2C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4352544"/>
            <a:ext cx="219456" cy="219456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352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49808" y="435254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is your friend for large data — columnar, compressed, fast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4672584"/>
            <a:ext cx="8458200" cy="32918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4727448"/>
            <a:ext cx="219456" cy="219456"/>
          </a:xfrm>
          <a:prstGeom prst="ellipse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727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9808" y="472744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DataFrame API are equal in performance — use whichever reads clearer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3474720" cy="6217920"/>
          </a:xfrm>
          <a:prstGeom prst="rect">
            <a:avLst/>
          </a:prstGeom>
          <a:solidFill>
            <a:srgbClr val="1A2C42"/>
          </a:solidFill>
          <a:ln w="12700">
            <a:solidFill>
              <a:srgbClr val="1A2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6217920" cy="1097280"/>
          </a:xfrm>
          <a:prstGeom prst="rect">
            <a:avLst/>
          </a:prstGeom>
          <a:solidFill>
            <a:srgbClr val="F4821F"/>
          </a:solidFill>
          <a:ln w="12700">
            <a:solidFill>
              <a:srgbClr val="F482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building, keep breaking things,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5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keep checking localhost:4040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spark.apache.org — Official documentation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Spark, 2nd Ed — O'Reilly book (best resource)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Community Edition — Free cluster to practice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github.com/apache/spark — Source code + examples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 rot="5400000">
            <a:off x="6583680" y="731520"/>
            <a:ext cx="2011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