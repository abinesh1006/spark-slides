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502920" cy="5029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320040" cy="3200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640080" cy="64008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4114800"/>
            <a:ext cx="365760" cy="3657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97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" y="1645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2860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Java Developers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EXPERT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640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Course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0" y="12801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Spark Architecture &amp; Core Concepts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0" y="17190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RDD, DataFrame &amp; Dataset APIs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0" y="21579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Spark SQL &amp; Structured Streaming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14800" y="25968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MLlib Machine Learning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14800" y="30358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Performance Tuning &amp; Optimization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14800" y="3474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Production Deployments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1480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Sections  •  60+ Slides  •  Hands-on Code Examples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– from zero to production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88720"/>
            <a:ext cx="457200" cy="658368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" y="13716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252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Apache Spark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Spark, history, ecosystem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938528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938528"/>
            <a:ext cx="457200" cy="658368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" y="212140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002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executors, DAG, cluster managers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68833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688336"/>
            <a:ext cx="457200" cy="658368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287121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2752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Java + Spark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0358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Maven, SparkSession, first program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3438144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438144"/>
            <a:ext cx="457200" cy="658368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" y="362102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RDDs – Resilient Distributed Datasets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785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Transformations, actions, persistence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4187952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4187952"/>
            <a:ext cx="457200" cy="658368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" y="437083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Datasets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535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API, encoders, schema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18872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188720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13716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1252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queries, catalogs, views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1938528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38528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212140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12080" y="2002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pipelines, triggers, watermarks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68833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688336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287121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12080" y="2752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– Machine Learning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30358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algorithms, model tuning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438144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438144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0016" y="362102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212080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Optimization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12080" y="3785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Partitioning, caching, Tungsten, AQE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4187952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4187952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0016" y="437083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2120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Production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12080" y="4535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YARN, K8s, Databricks,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Apache Spark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use cases, and the Big Data landscape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Apache Spark?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analytics engine for large-scale data processing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is an open-source, distributed computing framework for large-scale data processing.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developed at UC Berkeley AMPLab in 2009, donated to Apache Software Foundation in 2013.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Scala; official APIs for Java, Python (PySpark), R (SparkR) and SQL.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workloads at Netflix, Uber, LinkedIn, Amazon, and thousands of other companies.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1280160"/>
            <a:ext cx="1737360" cy="13716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303520" y="20299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Hadoop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in memory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86600" y="1280160"/>
            <a:ext cx="1737360" cy="13716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178040" y="20299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disk vs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MapReduce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2834640"/>
            <a:ext cx="1737360" cy="13716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3584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operators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transformations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2834640"/>
            <a:ext cx="1737360" cy="13716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78040" y="3584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worldwide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vs Hadoop MapReduce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Spark dominates modern Big Data processing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97280"/>
          <a:ext cx="8778240" cy="374904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3657600"/>
              </a:tblGrid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MapReduce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+ Streaming + ML +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Disk-based (HDFS)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(spills to disk)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100× faster in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APIs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Java, Scala, Python, R, 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Verbose, complex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Concise, expressive APIs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Tolerance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lineage-based recovery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Streaming built-in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Mahout (external)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MLlib (built-in)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Spark Ecosystem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 for all data workloads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2194560"/>
            <a:ext cx="2743200" cy="7772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2331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Core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9202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241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DataFrames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192024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0241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1920240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0241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914400"/>
            <a:ext cx="19202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0241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Storage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1572768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319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93392" y="3840480"/>
            <a:ext cx="1572768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39319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GCS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12464" y="3840480"/>
            <a:ext cx="1572768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39319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31536" y="3840480"/>
            <a:ext cx="1572768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39319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RDBMS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50608" y="3840480"/>
            <a:ext cx="1572768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39319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Managers: YARN  •  Kubernetes  •  Standalone  •  Apache Mesos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distributes and executes work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Cluster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Cluster Manager, and Executors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56032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PROGRAM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286000" cy="32918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84248"/>
            <a:ext cx="2286000" cy="32918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Scheduler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68296"/>
            <a:ext cx="2286000" cy="32918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752344"/>
            <a:ext cx="2286000" cy="32918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136392"/>
            <a:ext cx="2286000" cy="32918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Code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1188720"/>
            <a:ext cx="23774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D6A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/ K8s / Standalone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1051560"/>
            <a:ext cx="228600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D6A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1435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Task  Task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1764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Memory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2377440"/>
            <a:ext cx="228600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D6A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2761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Task  Task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Memory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3703320"/>
            <a:ext cx="228600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D6A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4087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Task  Task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4416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Memory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1828800"/>
            <a:ext cx="54864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2743200"/>
            <a:ext cx="54864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1600200"/>
            <a:ext cx="82296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2926080"/>
            <a:ext cx="82296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3931920"/>
            <a:ext cx="82296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– Directed Acyclic Graph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plans and executes jobs lazily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builds a DAG of all transformations before executing any work.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evaluation: nothing runs until an action is called (collect, count, save…).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DAG Scheduler splits the DAG into Stages separated by shuffle boundaries.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contains Tasks — one task per data partition.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optimization opportunities, fault recovery via lineage.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164592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920240"/>
            <a:ext cx="1645920" cy="50292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2651760"/>
            <a:ext cx="1645920" cy="50292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3383280"/>
            <a:ext cx="1645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3383280"/>
            <a:ext cx="1645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collect()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1691640"/>
            <a:ext cx="0" cy="22860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423160"/>
            <a:ext cx="0" cy="22860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154680"/>
            <a:ext cx="0" cy="22860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65760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 rot="16200000">
            <a:off x="4663440" y="1920240"/>
            <a:ext cx="731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383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uses JVM memory efficiently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1097280" cy="3749040"/>
          </a:xfrm>
          <a:prstGeom prst="rect">
            <a:avLst/>
          </a:prstGeom>
          <a:solidFill>
            <a:srgbClr val="243558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1097280"/>
            <a:ext cx="1097280" cy="1572768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2670048"/>
            <a:ext cx="109728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3721608"/>
            <a:ext cx="1097280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4389120"/>
            <a:ext cx="109728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438912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188720"/>
            <a:ext cx="73152" cy="804672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Memory (60%)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1572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shuffles, joins, sorts, aggregations. Managed by MemoryManager.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38912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4884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21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Memory (40%)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2532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caching RDDs and broadcast variables. Can borrow from Execution.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438912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08960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82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Memory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JVM heap used by user data structures, Spark metadata.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438912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69080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42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Memory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453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MB reserved by Spark for internal objects and system use.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spark.memory.fraction = 0.6  |  spark.memory.storageFraction = 0.5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Java + Spark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project, SparkSession, and your first program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Project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dependencies for Apache Spark in Java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457200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457200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435254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pom.xml --&gt;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&lt;groupId&gt;org.apache.spark&lt;/groupId&gt;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&lt;artifactId&gt;spark-core_2.12&lt;/artifactId&gt;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&lt;version&gt;3.5.0&lt;/version&gt;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&lt;groupId&gt;org.apache.spark&lt;/groupId&gt;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&lt;artifactId&gt;spark-sql_2.12&lt;/artifactId&gt;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&lt;version&gt;3.5.0&lt;/version&gt;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&lt;groupId&gt;org.apache.spark&lt;/groupId&gt;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&lt;artifactId&gt;spark-streaming_2.12&lt;/artifactId&gt;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&lt;version&gt;3.5.0&lt;/version&gt;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&lt;groupId&gt;org.apache.spark&lt;/groupId&gt;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&lt;artifactId&gt;spark-mllib_2.12&lt;/artifactId&gt;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&lt;version&gt;3.5.0&lt;/version&gt;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3776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Scala version 2.12 or 2.13 suffixes in artifactId.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scope to 'provided' for cluster deployments (Spark is pre-installed).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&lt;scope&gt;provided&lt;/scope&gt; when packaging fat JARs.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8, 11, or 17 are all supported (17 recommended).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log4j config to suppress verbose output in dev.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– Entry 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unified entry point for all Spark functionality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48640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48640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26694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org.apache.spark.sql.SparkSession;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org.apache.spark.sql.Dataset;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org.apache.spark.sql.Row;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HelloSpark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Create SparkSession (builder pattern)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SparkSession spark = SparkSession.builder()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.appName("HelloSpark")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.master("local[*]")     // use all local cores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.config("spark.sql.shuffle.partitions", "4")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.getOrCreate();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Read a CSV file as DataFrame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Dataset&lt;Row&gt; df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.option("header",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.option("inferSchema",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.csv("data/employees.csv");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df.printSchema();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df.show(10);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Always stop at the 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spark.stop();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0" y="128016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replaces SparkContext, SQLContext, and HiveContext (Spark 2.0+).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 uses all available CPU cores.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set master via spark-submit — NOT in code.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.getOrCreate() to reuse existing sessions.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is thread-safe; share one instance.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Spark Applications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mode, spark-submit, and IDE debugging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4114800" cy="5486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 (Development)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600200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inside your IDE. Use master("local[*]") — no cluster needed. Perfect for unit testing and development.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" y="2423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242316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5146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spark-submit (Cluster)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" y="2880360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spark-submit --master yarn --deploy-mode cluster --class com.example.MyApp myapp.jar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82880" y="37033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3703320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7947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UI (Port 4040)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" y="4160520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http://localhost:4040 while app runs. Inspect jobs, stages, tasks, storage, and environment.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1143000"/>
            <a:ext cx="4480560" cy="320040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143000"/>
            <a:ext cx="448056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0288" y="1435608"/>
            <a:ext cx="426110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fat JAR with Maven Shade plugin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clean package -DskipTests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Submit to YARN cluster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--class com.example.MyApp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--master yarn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--deploy-mode cluster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--num-executors 10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--executor-memory 4g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--executor-cores 2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target/myapp-1.0-shaded.jar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arg1 arg2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RDDs – Resilient Distributed Datasets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low-level fundamental data abstraction in Spark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RDD?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Distributed Dataset – the building block of Spark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114800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73152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via lineage graph — lost partitions are automatically recomputed.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23160"/>
            <a:ext cx="4114800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42316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898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split into partitions spread across cluster nodes.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657600"/>
            <a:ext cx="4114800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65760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1330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records of any type — Strings, Integers, POJOs, tuples.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114800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188720"/>
            <a:ext cx="73152" cy="105156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664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created, RDDs cannot be changed. Transformations create new RDDs.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114800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423160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2898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build a DAG but do NOT execute until an action is called.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114800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65760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1330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JavaRDD&lt;T&gt; is strongly typed; type errors caught at compile time.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RDDs in Java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create your first RDD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02920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02920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480974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org.apache.spark.api.java.JavaRDD;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org.apache.spark.api.java.JavaSparkContext;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java.util.Arrays;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JavaSparkContext jsc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JavaSparkContext(spark.sparkContext());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Parallelize a local collection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JavaRDD&lt;Integer&gt; numbersRDD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jsc.parallelize(Arrays.asList(1,2,3,4,5,6,7,8), 4);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Read from text file (each line = one element)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 linesRDD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jsc.textFile("hdfs://namenode/data/file.txt");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Read all files in a directory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 dirRDD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jsc.textFile("hdfs://namenode/logs/*.log");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From DataFrame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JavaRDD&lt;Row&gt; rowRDD = df.javaRDD();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System.out.println("Partitions: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numbersRDD.getNumPartitions());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949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6002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JavaSparkContext wraps Scala SparkContext for Java compatibility.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partition count = number of CPU cores (local) or HDFS blocks (cluster).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partition count as 2nd arg for parallelism control.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 formats supported: text, CSV, JSON, Parquet, Avro, ORC.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DataFrame/Dataset API over RDD for new code — better optimization.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Transformations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operations that create new RDDs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21208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21208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49926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 words = linesRDD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.flatMap(line -&gt; Arrays.asList(line.split(" ")).iterator());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map: one-to-one element transformation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 upper = words.map(w -&gt; w.toUpperCase());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filter: keep elements matching predicate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 longWords = words.filter(w -&gt; w.length() &gt; 5);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distinct: remove duplicates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 unique = words.distinct();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mapToPair: create key-value pairs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JavaPairRDD&lt;String, Integer&gt; pairs = words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.mapToPair(w -&gt; new Tuple2&lt;&gt;(w, 1));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reduceByKey: aggregate by key (efficient — local combine first)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JavaPairRDD&lt;String, Integer&gt; counts = pairs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.reduceByKey((a, b) -&gt; a + b);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groupByKey: group values by key (less efficient, avoid if possible)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JavaPairRDD&lt;String, Iterable&lt;Integer&gt;&gt; grouped = pairs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.groupByKey();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sortByKey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JavaPairRDD&lt;String, Integer&gt; sorted = counts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.sortByKey(true); // ascending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1188720"/>
            <a:ext cx="16002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261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32704" y="159105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1-to-1 element transform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0" y="1188720"/>
            <a:ext cx="16002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261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flatMap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70064" y="159105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1-to-N, flatten results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2148840"/>
            <a:ext cx="16002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221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32704" y="255117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matching elements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0" y="2148840"/>
            <a:ext cx="16002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2221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70064" y="255117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3108960"/>
            <a:ext cx="16002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182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union/intersect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32704" y="351129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0" y="3108960"/>
            <a:ext cx="16002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182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join/cogroup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70064" y="351129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Key-based joins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4069080"/>
            <a:ext cx="16002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4142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repartition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32704" y="447141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partition count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0" y="4069080"/>
            <a:ext cx="16002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142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70064" y="447141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partitions (efficient)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execution and return results to the driver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21208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21208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49926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count: number of elements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total = wordsRDD.count();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collect: return ALL elements to driver (⚠️ use carefully!)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allWords = wordsRDD.collect();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take: return first N elements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first10 = wordsRDD.take(10);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first: return first element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firstWord = wordsRDD.first();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reduce: aggregate all elements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 = numbersRDD.reduce((a, b) -&gt; a + b);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countByValue: count occurrences of each 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Long&gt; freq = wordsRDD.countByValue();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saveAsTextFile: write to HDFS or S3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countsRDD.saveAsTextFile("hdfs://output/wordcount");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foreach: side-effect per element (does not return 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countsRDD.foreach(pair 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System.out.println(pair._1() + ": " + pair._2()));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Reference: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627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938528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9659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276856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3042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take(n)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2615184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642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2953512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980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3291840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319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630168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657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countByValue()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3968496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9959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saveAsTextFile()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4306824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4334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saveAsObjectFile()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4645152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46725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foreach()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Persistence &amp; Caching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computed RDDs across actions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5029200" cy="3108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502920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161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81328"/>
            <a:ext cx="480974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org.apache.spark.storage.StorageLevel;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cache() = MEMORY_ONLY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 cached = processedRDD.cache();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persist() with custom storage level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 persisted = processedRDD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.persist(StorageLevel.MEMORY_AND_DISK_SER());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Unpersist when done to free memory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persisted.unpersist();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 will trigger computation AND cache the RDD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count = cached.count();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Second count uses cached data — no recomputation!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count2 = cached.count(); // fast!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949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Levels: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1600200"/>
            <a:ext cx="356616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66420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627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856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Stores as deserialized objects. Fastest if fits.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167128"/>
            <a:ext cx="356616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223113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MEMORY_AND_DISK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2423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Spills to disk if RAM is full. Good for large datasets.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2734056"/>
            <a:ext cx="356616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2798064"/>
            <a:ext cx="182880" cy="182880"/>
          </a:xfrm>
          <a:prstGeom prst="ellipse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MEMORY_ONLY_SER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2990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— smaller footprint, slower CPU.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3300984"/>
            <a:ext cx="356616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336499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3284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MEMORY_AND_DISK_SER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3557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+ disk spill. Best for large, reused RDDs.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3867912"/>
            <a:ext cx="356616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393192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8953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DISK_ONLY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41239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only on disk. Slowest — use rarely.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4434840"/>
            <a:ext cx="356616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0680" y="449884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4462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OFF_HEAP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4690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Tungsten off-heap memory. Avoids GC pressure.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Datasets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APIs with schema, catalyst optimizer, and type safety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vs DataFrame vs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API for your use case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8778240" cy="374904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468880"/>
                <a:gridCol w="2468880"/>
              </a:tblGrid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Dataset&lt;T&gt;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Safety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Compile-time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Runtime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Compile-time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Schema-based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Schema-based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Catalyst + Tungsten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Catalyst + Tungsten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JavaRDD&lt;T&gt;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Dataset&lt;Row&gt;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Dataset&lt;T&gt;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Low-level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/ analytics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Type-safe pipelines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df.as(encoder)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ds.toDF()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DataFrames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ways to create structured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39496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39496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17550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Read from 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csvDF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.option("header", "true").option("inferSchema",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.csv("employees.csv");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From Java List using Encoder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org.apache.spark.sql.Encoders;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data = Arrays.asList("Alice","Bob","Carol");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Dataset&lt;String&gt; ds = spark.createDataset(data, Encoders.STRING());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Programmatic schema with StructType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StructType schema = new StructType(new StructField[]{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DataTypes.createStructField("id",   DataTypes.LongType,   false),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DataTypes.createStructField("name", DataTypes.StringType, true),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DataTypes.createStructField("age",  DataTypes.IntegerType,true),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DataTypes.createStructField("sal",  DataTypes.DoubleType, 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List&lt;Row&gt; rows = Arrays.asList(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RowFactory.create(1L, "Alice", 30, 75000.0),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RowFactory.create(2L, "Bob",   25, 60000.0)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df = spark.createDataFrame(rows, schema);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From Parquet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parquet = spark.read().parquet("data.parquet");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128016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InferSchema reads entire file to detect types — slow on big data.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schema explicitly for production code — always faster and safer.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/ ORC are columnar formats — best read performance.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spark.read() returns a DataFrameReader with fluent methods.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.option() for any format-specific settings.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Operations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Selecting, filtering, aggregating, and joining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static org.apache.spark.sql.functions.*;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 columns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df.select("name", "age", "salary").show();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 rows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df.filter(col("age").gt(30)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.and(col("salary").geq(70000))).show();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computed column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withBonus = df.withColumn("bonus",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col("salary").multiply(0.1));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Aggregate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df.groupBy("department")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count("*").alias("headcount"),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avg("salary").alias("avg_salary"),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max("salary").alias("max_salary"),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sum("salary").alias("total_payroll")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).orderBy(desc("avg_salary")).show();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Join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result = employees.join(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departments,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employees.col("dept_id").equalTo(departments.col("id")),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"inner"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Window functions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WindowSpec window = Window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.partitionBy("department")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.orderBy(desc("salary"));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df.withColumn("rank", rank().over(window)).show();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Library: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627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col() / lit()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1938528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9659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concat() / split()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2276856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3042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to_date() / year()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2615184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642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when() / otherwise()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77840" y="2953512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980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coalesce() / nvl()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3291840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319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explode() / collect_list()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0" y="3630168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657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/ dense_rank()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3968496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9959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lead() / lag()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77840" y="4306824"/>
            <a:ext cx="33832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4334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regexp_extract()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77840" y="4645152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46725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struct() / array()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Dataset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compile-time checked transformations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org.apache.spark.sql.Encoder;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org.apache.spark.sql.Encoders;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java.io.Serializable;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Define a POJO (must be Serializable)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class Employee implements Serializable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long 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name;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age;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salary;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department;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Create Encoder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Encoder&lt;Employee&gt; encoder = Encoders.bean(Employee.class);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Create typed Dataset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Dataset&lt;Employee&gt; empDS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.option("header","true")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.option("inferSchema","true")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.csv("employees.csv")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.as(encoder);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Type-safe operations (compile-time errors!)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Dataset&lt;Employee&gt; seniors = empDS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.filter(e -&gt; e.age &gt; 35 &amp;&amp; e.salary &gt; 80000);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Map to another 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Dataset&lt;String&gt; names = seniors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.map(e -&gt; e.name.toUpperCase(), Encoders.STRING());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names.show();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POJOs must be Java beans with public fields or getters/setters.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implement Serializable for Spark to distribute objects.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Encoders.bean() uses reflection; Encoders.kryo() is faster but less schema-aware.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gives you IDE autocomplete, refactoring safety.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.as(encoder) to convert DataFrame to typed Dataset.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serialization: use static methods or Serializable interfaces.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queries, views, catalogs, and the Catalyst optimizer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– Running SQL Queries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 directly against DataFrames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9496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9496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17550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 DataFrame as a temporary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df.createOrReplaceTempView("employees");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 SQL query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result = spark.sql(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department,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     AVG(salary) AS avg_sal,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     COUNT(*)    AS headcount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"FROM   employees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"WHERE  age &gt; 25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"GROUP  BY department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"HAVING COUNT(*) &gt; 3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"ORDER  BY avg_sal DESC"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Global temporary views (cross-session)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df.createGlobalTempView("global_emp");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spark.sql("SELECT * FROM global_temp.global_emp").show();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Persistent catalog (saves across sessions with Hive)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df.write().mode("overwrite")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.saveAsTable("hr.employees");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 tables in catalog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spark.catalog().listTables().show();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createOrReplaceTempView is session-scoped and not persisted to disk.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createGlobalTempView is accessible by all sessions in same SparkContext.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saveAsTable writes Hive-compatible metastore tables (requires enableHiveSupport).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DataFrame API produce identical execution plans — choose what's readable.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spark.sql().explain("extended") to inspect the query plan.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Query Optimizer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automatically optimizes your queries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691640" cy="9144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258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Plan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74520" y="1645920"/>
            <a:ext cx="41148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188720"/>
            <a:ext cx="16916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3258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Plan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94760" y="1645920"/>
            <a:ext cx="41148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188720"/>
            <a:ext cx="16916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3258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Plan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15000" y="1645920"/>
            <a:ext cx="41148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188720"/>
            <a:ext cx="16916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3258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Plan(s)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1645920"/>
            <a:ext cx="41148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1188720"/>
            <a:ext cx="169164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3258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Plan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" y="2377440"/>
            <a:ext cx="201168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377440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28529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attribute names and types using catalog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23160" y="2377440"/>
            <a:ext cx="201168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237744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Optimization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14600" y="28529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pushdown, constant folding, projection pruning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377440"/>
            <a:ext cx="201168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377440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Planning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8529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multiple physical plans using cost model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2377440"/>
            <a:ext cx="201168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237744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28529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Tungsten generates bytecode for JVM — near-native speed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Functions (UDFs)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Spark SQL with custom Java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9496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9496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17550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org.apache.spark.sql.api.java.UDF1;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static org.apache.spark.sql.functions.udf;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Define the UDF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UDF1&lt;String, String&gt; capitalize = (String name)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(name == null || name.isEmpty()) return name;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name.substring(0,1).toUpperCase()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name.substring(1).toLowerCase();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Register with SparkSession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spark.udf().register("capitalize",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capitalize, DataTypes.StringType);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3a. Use in 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spark.sql("SELECT capitalize(name) FROM employees").show();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3b. Use with Column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org.apache.spark.sql.expressions.UserDefinedFunction;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UserDefinedFunction capUDF = udf(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(String s) -&gt; s == null ? null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s.substring(0,1).toUpperCase() + s.substring(1),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DataTypes.StringType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df.withColumn("name", capUDF.apply(col("name"))).show();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UDAF (User Defined Aggregate Function) — extend Aggregator&lt;IN,BUF,OUT&gt;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UDFs are opaque to Catalyst — cannot be optimized. Use built-in functions first.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UDFs must be serializable if used in Datasets.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Encoders.bean() or Encoders.kryo() for custom types in UDAFs.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safety: Spark will call UDF with null — always handle null inputs.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functions (transform, filter, aggregate) avoid UDFs for arrays.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pipelines using the DataFrame API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 Concepts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 stream as an unbounded table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 is a scalable, fault-tolerant stream processing engine built on Spark SQL.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concept: treat the live data stream as an unbounded table that grows continuously.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streaming query runs incrementally and updates the result table on each trigger.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event-time processing, watermarks, and stateful operations.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API: same DataFrame/SQL code works for batch AND streaming!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188720"/>
            <a:ext cx="1645920" cy="64008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508760"/>
            <a:ext cx="457200" cy="0"/>
          </a:xfrm>
          <a:prstGeom prst="line">
            <a:avLst/>
          </a:prstGeom>
          <a:noFill/>
          <a:ln w="25400">
            <a:solidFill>
              <a:srgbClr val="F7A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1188720"/>
            <a:ext cx="15544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234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194560"/>
            <a:ext cx="36576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2194560"/>
            <a:ext cx="73152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677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542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rows since last trigger are written to sink.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3154680"/>
            <a:ext cx="36576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315468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3227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3502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that changed in the result table are written.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4114800"/>
            <a:ext cx="36576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411480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4187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44622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result table is written every trigger.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 – Java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from Kafka, processing, and writing to sinks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Read from Kafka (streaming source)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kafkaDF = spark.readStream()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.format("kafka")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.option("kafka.bootstrap.servers", "broker:9092")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.option("subscribe", "orders")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.option("startingOffsets", "earliest")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.load();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Parse JSON payload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orders = kafkaDF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.selectExpr("CAST(value AS STRING) as json")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.select(from_json(col("json"), orderSchema).as("data"))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.select("data.*");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Aggregate with watermark (handle late 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summary =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.withWatermark("event_time", "10 minutes")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window(col("event_time"), "5 minutes"),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col("product_id"))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.agg(sum("quantity").alias("total_qty"),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sum("amount").alias("revenue"));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Write to sink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StreamingQuery query = summary.writeStream()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.format("console")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.outputMode("update")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.trigger(Trigger.ProcessingTime("30 seconds"))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.option("checkpointLocation", "/checkpoints/orders")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.start();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query.awaitTermination();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Watermarks tell Spark how late data can arrive before dropping it.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location is required for fault tolerance — stores progress.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is the most common production streaming source.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sinks: Kafka, JDBC, Delta Lake, files, console, memory.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query.awaitTermination() blocks until query is stopped.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streams can run concurrently in one SparkSession.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– Machine Learning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ML pipelines, algorithms, and model evaluation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Spark's built-in distributed machine learning library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0624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73152" cy="109728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GBT, Naïve Bayes, SVM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2423160"/>
            <a:ext cx="420624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42316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8803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Decision Tree, Random Forest, GBT, AFT Survival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3657600"/>
            <a:ext cx="420624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657600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114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Gaussian Mixture, LDA, Bisecting K-Means, Power Iteration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20624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188720"/>
            <a:ext cx="73152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(Alternating Least Squares) — Netflix-style recommender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420624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42316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803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StandardScaler, MinMaxScaler, PCA, TF-IDF, Word2Vec, VectorAssembler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420624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65760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114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CrossValidator, TrainValidationSplit, ParamGridBuilder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in Java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end-to-end machine learning workflows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org.apache.spark.ml.Pipeline;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org.apache.spark.ml.classification.RandomForestClassifier;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org.apache.spark.ml.evaluation.BinaryClassificationEvaluator;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org.apache.spark.ml.feature.*;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org.apache.spark.ml.tuning.*;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Feature engineering stages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StringIndexer indexer = new StringIndexer()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.setInputCol("category").setOutputCol("categoryIdx");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VectorAssembler assembler = new VectorAssembler()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.setInputCols(new String[]{"age","salary","categoryIdx"})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.setOutputCol("features");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 scaler = new StandardScaler()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.setInputCol("features").setOutputCol("scaledFeatures");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 rf = new RandomForestClassifier()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.setFeaturesCol("scaledFeatures").setLabelCol("churn")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.setNumTrees(100).setMaxDepth(10);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Assemble pipeline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pipeline = new Pipeline()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.setStages(new PipelineStage[]{indexer,assembler,scaler,rf});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Hyperparameter tuning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ParamMap[] grid = new ParamGridBuilder()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.addGrid(rf.numTrees(), new int[]{50,100,200})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.addGrid(rf.maxDepth(), new int[]{5,10,15}).build();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CrossValidator cv = new CrossValidator()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.setEstimator(pipeline).setEvaluator(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BinaryClassificationEvaluator().setLabelCol("churn"))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.setEstimatorParamMaps(grid).setNumFolds(5);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Fit and evaluate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CrossValidatorModel model = cv.fit(trainDF);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model.transform(testDF).select("churn","prediction","probability").show();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model.bestModel().write().overwrite().save("model/churn");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chain Transformers and Estimators together cleanly.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 converts categorical strings to numeric indices.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 combines feature columns into a single vector column.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CrossValidator performs k-fold cross validation — prevents overfitting.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trained models with .save() and reload with .load().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FeatureImportances from RF to understand which features matter.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Optimization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Partitioning, caching, AQE, Tungsten, and best practices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Strategies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impactful performance lever in Spark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21208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21208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49926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current partition 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System.out.println(df.rdd().getNumPartitions()); // e.g., 200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Repartition: full shuffle — use to increase or even out skew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balanced = df.repartition(100);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Repartition by column (data locality for downstream joins/agg)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byDept = df.repartition(50, col("department"));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Coalesce: only reduces — no full shuffle, much faster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small = df.coalesce(10);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Optimal partition size rule of thumb: 128MB – 256MB per partition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Total size / target partition size = number of partitions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shuffle operations set: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spark.conf().set("spark.sql.shuffle.partitions", "200"); // default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Adaptive Query Execution (AQE) — Spark 3.0+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spark.conf().set("spark.sql.adaptive.enabled", "true");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spark.conf().set("spark.sql.adaptive.coalescePartitions.enabled","true");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spark.conf().set("spark.sql.adaptive.skewJoin.enabled", "true");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0" y="128016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200 shuffle partitions is wrong for most jobs.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partitions → large tasks, OOM errors, slow.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partitions → task scheduling overhead, tiny files.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target 128–256 MB per partition.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AQE (Spark 3+) — it auto-adjusts partition count at runtime.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join optimization splits large partitions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Optimizations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joins, sort-merge joins, and avoiding shuffles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21208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21208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49926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static org.apache.spark.sql.functions.broadcast;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Broadcast join: small table → replicated to all executors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shuffle! Dramatically faster for small dimension tables.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result = largeDF.join(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broadcast(smallDF),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largeDF.col("dept_id").equalTo(smallDF.col("id")),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"inner"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Hint-based broadcast (SQL)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/*+ BROADCAST(d) */ e.*, d.name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"FROM employees e JOIN departments d ON e.dept_id=d.id"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Auto-broadcast threshold (10MB default)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"spark.sql.autoBroadcastJoinThreshold", "50m");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Skew hint for uneven data distribution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/*+ SKEW_JOIN(orders, 'user_id', (1,2,3)) */ *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"FROM orders JOIN users ON orders.user_id=users.id"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Bucket join: pre-shuffle on write for repeated joins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df.write().bucketBy(64, "user_id").sortBy("user_id")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.saveAsTable("orders_bucketed");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0" y="118872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 threshold: table must be smaller than autoBroadcastJoinThreshold.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Sort-Merge join (default for large tables): both sides sorted and merged.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joins avoid shuffles entirely for repeated joins on same key.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join strategy in query plan: BroadcastHashJoin vs SortMergeJoin.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UDFs in join conditions — prevents optimization.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Best Practices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12 rules for fast Spark jobs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 Parquet/ORC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4721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formats enable predicate pushdown and column pruning.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82880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82880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Partition Pruning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1122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 partition columns to skip reading irrelevant files.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46888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468880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14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Avoid collect()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27523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collect large datasets to driver — use write() instead.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10896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108960"/>
            <a:ext cx="73152" cy="5486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546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Cache Wisely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339242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only if reused 2+ times. Unpersist when done.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74904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749040"/>
            <a:ext cx="7315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94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Broadcast Small Tables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0325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broadcast dimension tables &lt; 50MB in joins.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438912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4389120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34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Enable AQE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6725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spark.sql.adaptive.enabled=true — free performance in Spark 3+.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18872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18872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Tune Parallelism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46320" y="14721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shuffle partitions to 2-3× executor cores.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182880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828800"/>
            <a:ext cx="73152" cy="5486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874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Avoid groupByKey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46320" y="21122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reduceByKey / aggregateByKey — performs local pre-combine.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46888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468880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514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Avoid UDFs if Possible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46320" y="27523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built-in functions — they are Catalyst-optimized.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10896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108960"/>
            <a:ext cx="7315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1546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Use Kryo Serializer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846320" y="339242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spark.serializer=KryoSerializer — 10× faster than Java.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374904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749040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794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Tungsten Enabled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846320" y="40325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Off-heap binary format for execution — automatic in Spark 2+.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4389120"/>
            <a:ext cx="42976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438912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434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Monitor with Spark UI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846320" y="46725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task times, shuffle sizes, GC — at localhost:4040.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UI – Monitoring &amp; Debugging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most important metrics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4206240" cy="5486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97864"/>
            <a:ext cx="914400" cy="1042416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904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3441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view. Each action = one Job. Check for failed jobs and long-running actions.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377440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432304"/>
            <a:ext cx="914400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724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25786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= one DAG unit. Check task distribution, skew, and GC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3611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361188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666744"/>
            <a:ext cx="914400" cy="10424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9593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38130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 units on executors. Find stragglers (max &gt;&gt; median duration).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143000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197864"/>
            <a:ext cx="914400" cy="10424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4904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87568" y="13441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cached RDDs/DataFrames: size in memory/disk, fraction cached.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377440"/>
            <a:ext cx="4206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432304"/>
            <a:ext cx="914400" cy="10424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724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87568" y="25786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Spark config values, JVM flags, classpath — crucial for debugging.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3611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611880"/>
            <a:ext cx="42062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666744"/>
            <a:ext cx="914400" cy="10424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9593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87568" y="38130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health: memory used, GC time, shuffle read/write, active tasks.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YARN, Kubernetes, Databricks, and production best practices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Deployment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vs cluster mode and resource managers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06240" cy="3291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4206240" cy="50292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runs on the machine that submitted the job. Logs stream to terminal. Best for interactive/debug.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Easy debugging, logs visible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Network bottleneck, driver must stay alive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206240" cy="3291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88720"/>
            <a:ext cx="4206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runs on a worker node inside the cluster. Submit and disconnect. Best for production batch jobs.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Driver inside cluster, no network lag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Harder to debug, logs via yarn logs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" y="4572000"/>
            <a:ext cx="8778240" cy="45720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4572000"/>
            <a:ext cx="877824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599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" y="4864608"/>
            <a:ext cx="855878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Client mode (default)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--deploy-mode client  --class com.App app.jar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Cluster mode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--deploy-mode cluster --class com.App app.jar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on Kubernetes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Spark natively on K8s clusters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Docker image for your Spark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apache/spark:3.5.0-java17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target/myapp-1.0-shaded.jar /opt/spark/jars/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Submit to Kubernetes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--master k8s://https://k8s-api-server:6443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--deploy-mode cluster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my-spark-job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--class com.example.MyApp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 spark.kubernetes.container.image=myregistry/myapp:1.0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 spark.kubernetes.namespace=spark-jobs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 spark.executor.instances=5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 spark.executor.memory=4g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 spark.executor.cores=2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 spark.kubernetes.driver.request.cores=1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 spark.kubernetes.executor.request.cores=2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local:///opt/spark/jars/myapp-1.0-shaded.jar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Spark Operator (Helm) for GitOps-style deployments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spark-operator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spark-operator/spark-operator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--namespace spark-operator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is the preferred modern deployment target (replacing YARN).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Operator (Kubeflow) allows declarative YAML-based submissions.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dynamic resource allocation to scale executors automatically.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secrets for S3/GCS credentials via Kubernetes Secrets.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(Persistent Volume Claim) for shuffle storage on K8s.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History Server: expose via Ingress for UI on completed jobs.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– ACID Transactions on Spark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standard for reliable data lakes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dependency: delta-core_2.12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SparkSession spark = SparkSession.builder()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.config("spark.sql.extensions",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"io.delta.sql.DeltaSparkSessionExtension")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.config("spark.sql.catalog.spark_catalog",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"org.apache.spark.sql.delta.catalog.DeltaCatalog")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.getOrCreate();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 Delta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.mode("overwrite")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.save("s3://bucket/delta/employees");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Delta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delta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.load("s3://bucket/delta/employees");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ACID Upsert (Merge)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io.delta.tables.DeltaTable;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DeltaTable target = DeltaTable.forPath(spark, "s3://bucket/delta/employees");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target.as("t")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.merge(updatesDF.as("u"), "t.id = u.id")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.whenMatchedUpdateAll()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.whenNotMatchedInsertAll()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.execute();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 Travel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spark.read().format("delta")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.option("versionAsOf", "5")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.load("s3://bucket/delta/employees").show();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transactions: atomic commits prevent partial writes.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enforcement: rejects writes that violate schema.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travel: query any historical version or timestamp.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(upsert): efficient CDC (Change Data Capture) patterns.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Z-ordering: co-locate related data for fast queries.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Compaction: OPTIMIZE command merges small files.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Configuration Cheatsheet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spark-submit parameters for production</a:t>
            </a:r>
            <a:endParaRPr lang="en-US" sz="13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8778240" cy="37490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3291840"/>
              </a:tblGrid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 Key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spark.executor.memory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per executor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spark.executor.cores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Cores per executor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spark.executor.instances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executor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spark.driver.memory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heap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spark.sql.shuffle.partitions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Post-shuffle partitions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spark.sql.adaptive.enabled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AQE (Spark 3+)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spark.serializer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org.apache.spark.serializer.KryoSerializer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serialization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spark.sql.autoBroadcastJoinThreshold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 join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spark.dynamicAllocation.enabled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executor scaling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spark.default.parallelism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RDD parallelism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spark.memory.fraction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for Spark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spark.memory.storageFraction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vs execution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85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BONUS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 &amp; Recipes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count, ETL pipeline, streaming aggregation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Classic: Word Count in Java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"Hello World" of distributed computing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877824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877824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8558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org.apache.spark.sql.SparkSession;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org.apache.spark.api.java.JavaRDD;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org.apache.spark.api.java.JavaPairRDD;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scala.Tuple2;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java.util.Arrays;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WordCount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SparkSession spark = SparkSession.builder()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.appName("WordCount").master("local[*]").getOrCreate();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RDD approach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JavaRDD&lt;String&gt; lines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spark.read().textFile("input.txt").javaRDD();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JavaPairRDD&lt;String, Long&gt; counts = lines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.flatMap(line -&gt; Arrays.asList(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line.toLowerCase().split("\\W+")).iterator())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.filter(word -&gt; !word.isEmpty())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.mapToPair(word -&gt; new Tuple2&lt;&gt;(word, 1L))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.reduceByKey(Long::sum)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.sortByKey();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counts.saveAsTextFile("output/wordcount");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DataFrame approach (same result, better performance)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spark.read().textFile("input.txt")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.selectExpr("explode(split(lower(value),'\\\\W+')) as word")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.filter("word != ''")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.groupBy("word").count()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.orderBy("word")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.write().csv("output/wordcount_df");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spark.stop();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 with error handling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877824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877824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8558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ETLPipeline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SparkSession spark = SparkSession.builder()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.appName("ETL").master("local[*]").getOrCreate();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EXTRACT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Dataset&lt;Row&gt; raw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.option("header",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.option("badRecordsPath", "/errors/")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.csv("s3://raw-data/sales/2024/");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TRANSFORM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Dataset&lt;Row&gt; clean = raw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.filter(col("amount").isNotNull()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.and(col("amount").gt(0)))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.withColumn("date",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to_date(col("sale_date"), "yyyy-MM-dd"))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.withColumn("year",  year(col("date")))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.withColumn("month", month(col("date")))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.withColumn("amount_usd",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col("amount").cast(DataTypes.DoubleType))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.dropDuplicates("transaction_id");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Dataset&lt;Row&gt; enriched = clean.join(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broadcast(spark.read().table("dim_product")),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clean.col("product_id")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.equalTo(col("dim_product.id")), "left");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LOAD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enriched.write()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.mode("overwrite")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.partitionBy("year", "month")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.save("s3://curated/sales/");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spark.stop();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&amp;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you WILL hit and how to fix them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877824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70432"/>
            <a:ext cx="73152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OutOfMemoryError: Java heap space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0" y="1188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Increase executor.memory, reduce partition size, avoid collect() on large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719072"/>
            <a:ext cx="877824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719072"/>
            <a:ext cx="73152" cy="475488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java.io.NotSerializableException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0" y="1737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Make all objects in lambda scope Serializable, or use static methods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267712"/>
            <a:ext cx="877824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267712"/>
            <a:ext cx="73152" cy="475488"/>
          </a:xfrm>
          <a:prstGeom prst="rect">
            <a:avLst/>
          </a:prstGeom>
          <a:solidFill>
            <a:srgbClr val="F7A040"/>
          </a:solidFill>
          <a:ln w="12700">
            <a:solidFill>
              <a:srgbClr val="F7A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not serializable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0" y="2286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Lambdas capture outer object — use static inner classes or extract to static method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816352"/>
            <a:ext cx="877824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816352"/>
            <a:ext cx="7315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 overhead limit exceeded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0" y="2834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Increase memory, use Kryo serializer, cache with MEMORY_AND_DISK_SER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3364992"/>
            <a:ext cx="877824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364992"/>
            <a:ext cx="73152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Lost task — stage retry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0" y="3383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Usually transient; check executor logs. Increase spark.task.maxFailures.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3913632"/>
            <a:ext cx="877824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3913632"/>
            <a:ext cx="7315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Shuffle fetch failed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0" y="3931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Executors died during shuffle. Increase executor memory or reduce data volume.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4462272"/>
            <a:ext cx="877824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4462272"/>
            <a:ext cx="7315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80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AnalysisException: Column not found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0" y="4480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 column names — case sensitive. Use printSchema() to debug.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Spark Learning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production-ready Spark developer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2103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2103120" cy="6858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164592" cy="164592"/>
          </a:xfrm>
          <a:prstGeom prst="ellipse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Spark locally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164592" cy="164592"/>
          </a:xfrm>
          <a:prstGeom prst="ellipse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+ DataFrames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73552"/>
            <a:ext cx="164592" cy="164592"/>
          </a:xfrm>
          <a:prstGeom prst="ellipse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transformations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164592" cy="164592"/>
          </a:xfrm>
          <a:prstGeom prst="ellipse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886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complete program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14016" y="1143000"/>
            <a:ext cx="2103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14016" y="1143000"/>
            <a:ext cx="21031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5456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05456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96896" y="19933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52928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deep dive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96896" y="26334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2928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96896" y="327355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&amp; Encoders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96896" y="39136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52928" y="3886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 &amp; I/O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45152" y="1143000"/>
            <a:ext cx="2103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5152" y="1143000"/>
            <a:ext cx="210312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6592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828032" y="199339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28032" y="263347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4064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pipelines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28032" y="327355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28032" y="39136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84064" y="3886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UDFs &amp; custom logic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76288" y="1143000"/>
            <a:ext cx="2103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76288" y="1143000"/>
            <a:ext cx="210312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67728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059168" y="199339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059168" y="263347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0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deployment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059168" y="327355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059168" y="391363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0" y="3886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debugging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spark.apache.org/docs  •  Databricks Academy  •  Learning Spark (O'Reilly)  •  GitHub: apache/spark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SPARK!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apache.org/spark  •  spark.apache.org/docs/latest  •  @ApacheSpark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for Java Developers – Beginner to Expert</dc:title>
  <dc:subject>PptxGenJS Presentation</dc:subject>
  <dc:creator>PptxGenJS</dc:creator>
  <cp:lastModifiedBy>PptxGenJS</cp:lastModifiedBy>
  <cp:revision>1</cp:revision>
  <dcterms:created xsi:type="dcterms:W3CDTF">2026-03-22T15:03:30Z</dcterms:created>
  <dcterms:modified xsi:type="dcterms:W3CDTF">2026-03-22T15:03:30Z</dcterms:modified>
</cp:coreProperties>
</file>