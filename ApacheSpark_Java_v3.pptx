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10972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8288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Java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" y="4434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API  ·  Accumulators  ·  Joins  ·  Streaming  ·  Optimization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749040" y="34747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Technical Guide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49040" y="777240"/>
            <a:ext cx="5166360" cy="320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Shape 7"/>
          <p:cNvSpPr/>
          <p:nvPr/>
        </p:nvSpPr>
        <p:spPr>
          <a:xfrm>
            <a:off x="3749040" y="914400"/>
            <a:ext cx="51663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9144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5166360" cy="384048"/>
          </a:xfrm>
          <a:prstGeom prst="rect">
            <a:avLst/>
          </a:prstGeom>
          <a:solidFill>
            <a:srgbClr val="1A233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13716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/ DataFrame / Dataset&lt;T&gt;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51663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1828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&amp; Java Beans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2286000"/>
            <a:ext cx="5166360" cy="384048"/>
          </a:xfrm>
          <a:prstGeom prst="rect">
            <a:avLst/>
          </a:prstGeom>
          <a:solidFill>
            <a:srgbClr val="E31837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2286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 &amp; Broadcast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2743200"/>
            <a:ext cx="51663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2743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Join Types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3200400"/>
            <a:ext cx="51663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58768" y="32004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3657600"/>
            <a:ext cx="5166360" cy="384048"/>
          </a:xfrm>
          <a:prstGeom prst="rect">
            <a:avLst/>
          </a:prstGeom>
          <a:solidFill>
            <a:srgbClr val="0891B2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36576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&amp; Streaming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4114800"/>
            <a:ext cx="5166360" cy="384048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4114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Optimization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49040" y="4572000"/>
            <a:ext cx="5166360" cy="384048"/>
          </a:xfrm>
          <a:prstGeom prst="rect">
            <a:avLst/>
          </a:prstGeom>
          <a:solidFill>
            <a:srgbClr val="E8521A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4572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Apache Spark guide with Java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416052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51560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106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Data Problem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4173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Java alone isn't enough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6052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51560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106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 &amp; Ecosystem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03520" y="14173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executors, DAG, components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1801368"/>
            <a:ext cx="416052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1801368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801368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/ SparkSession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2167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Maven, config, entry point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801368"/>
            <a:ext cx="416052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801368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801368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Fundamentals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03520" y="21671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API, transformations, actions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2551176"/>
            <a:ext cx="416052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2551176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551176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API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0120" y="29169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data, SQL-style ops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551176"/>
            <a:ext cx="416052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551176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551176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— Deep Dive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03520" y="29169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Beans, Encoders, typed ops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3300984"/>
            <a:ext cx="416052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3300984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300984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335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Variables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60120" y="36667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 &amp; Broadcast Variables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300984"/>
            <a:ext cx="416052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300984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300984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03520" y="335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Data Operations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303520" y="36667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Inner, outer, semi, cross, joinWith()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11480" y="4050792"/>
            <a:ext cx="416052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11480" y="4050792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4050792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6012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&amp; Streaming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60120" y="4416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windows, structured streaming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4050792"/>
            <a:ext cx="416052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4050792"/>
            <a:ext cx="50292" cy="6583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4050792"/>
            <a:ext cx="420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30352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Optimization &amp; Pitfalls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303520" y="4416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skew, best practices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" y="164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04672" y="20116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Ecosystem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Spark is built and what it can do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Data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Java app won't cut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2286000" cy="1828800"/>
          </a:xfrm>
          <a:prstGeom prst="rect">
            <a:avLst/>
          </a:prstGeom>
          <a:solidFill>
            <a:srgbClr val="E3183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155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Quintillion bytes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created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1051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Traditional Java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80360" y="1371600"/>
            <a:ext cx="5852160" cy="15087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80360" y="1371600"/>
            <a:ext cx="50292" cy="150876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481328"/>
            <a:ext cx="565099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Reading a 500GB file into ArrayList? → OutOfMemoryError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Looping over 1 billion records on one thread? → Takes hours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RAM limit · Disk I/O bottleneck · Single-threaded processing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A crash loses everything — no built-in fault tolerance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017520"/>
            <a:ext cx="832104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017520"/>
            <a:ext cx="5029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99816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Distribute the 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401568"/>
            <a:ext cx="8119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across 100 machines → each handles 1% of the work → combine results. That's exactly what Spark does — distributed, in-memory, fault-tolerant processing across a cluster.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processes data in-memory, in parallel, across thousands of machines simultaneously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3291840" cy="1737360"/>
          </a:xfrm>
          <a:prstGeom prst="rect">
            <a:avLst/>
          </a:prstGeom>
          <a:solidFill>
            <a:srgbClr val="E3183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PROGRAM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1089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SparkContext / SparkSession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tasks · Coordinates jobs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Scheduler  →  Task Scheduler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1051560"/>
            <a:ext cx="2651760" cy="8229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3898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 ·  Standalone  ·  Kubernetes  ·  Mesos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03320" y="1463040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926080"/>
            <a:ext cx="2697480" cy="1874520"/>
          </a:xfrm>
          <a:prstGeom prst="rect">
            <a:avLst/>
          </a:prstGeom>
          <a:solidFill>
            <a:srgbClr val="F4F6F9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926080"/>
            <a:ext cx="2697480" cy="32918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260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" y="3337560"/>
            <a:ext cx="804672" cy="2743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" y="33375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1208" y="3685032"/>
            <a:ext cx="804672" cy="2743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36850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1208" y="4032504"/>
            <a:ext cx="804672" cy="2743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40325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17320" y="340156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(Memory)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64792" y="2788920"/>
            <a:ext cx="0" cy="13716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2926080"/>
            <a:ext cx="2697480" cy="1874520"/>
          </a:xfrm>
          <a:prstGeom prst="rect">
            <a:avLst/>
          </a:prstGeom>
          <a:solidFill>
            <a:srgbClr val="F4F6F9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0128" y="2926080"/>
            <a:ext cx="269748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3401568" y="29260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19856" y="3337560"/>
            <a:ext cx="804672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3419856" y="33375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19856" y="3685032"/>
            <a:ext cx="804672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419856" y="36850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19856" y="4032504"/>
            <a:ext cx="804672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3419856" y="40325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15968" y="340156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(Memory)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788920"/>
            <a:ext cx="0" cy="13716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08776" y="2926080"/>
            <a:ext cx="2697480" cy="1874520"/>
          </a:xfrm>
          <a:prstGeom prst="rect">
            <a:avLst/>
          </a:prstGeom>
          <a:solidFill>
            <a:srgbClr val="F4F6F9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2926080"/>
            <a:ext cx="2697480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6300216" y="29260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18504" y="3337560"/>
            <a:ext cx="804672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6318504" y="33375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18504" y="3685032"/>
            <a:ext cx="804672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6318504" y="36850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18504" y="4032504"/>
            <a:ext cx="804672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6318504" y="40325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214616" y="340156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(Memory)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62088" y="2788920"/>
            <a:ext cx="0" cy="13716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49440" y="1051560"/>
            <a:ext cx="1783080" cy="17373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49440" y="1051560"/>
            <a:ext cx="50292" cy="173736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8" name="Text 46"/>
          <p:cNvSpPr/>
          <p:nvPr/>
        </p:nvSpPr>
        <p:spPr>
          <a:xfrm>
            <a:off x="7086600" y="111556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— brain of the job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086600" y="151790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— worker node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086600" y="19202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— 1 per partition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86600" y="2322576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sent to driver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Ecosystem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many tools — all sharing the same core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1051560"/>
            <a:ext cx="2926080" cy="804672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0789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3898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RDDs  ·  Task Scheduling  ·  Memory Management  ·  I/O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2011680" cy="2286000"/>
          </a:xfrm>
          <a:prstGeom prst="rect">
            <a:avLst/>
          </a:prstGeom>
          <a:solidFill>
            <a:srgbClr val="F4F6F9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57400"/>
            <a:ext cx="201168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057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487168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· Datasets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HiveQL · JDBC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optimizer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80160" y="1856232"/>
            <a:ext cx="0" cy="20116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2057400"/>
            <a:ext cx="2011680" cy="2286000"/>
          </a:xfrm>
          <a:prstGeom prst="rect">
            <a:avLst/>
          </a:prstGeom>
          <a:solidFill>
            <a:srgbClr val="F4F6F9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2057400"/>
            <a:ext cx="2011680" cy="38404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2057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96896" y="2487168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engine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Kinesis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Event-time windows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93008" y="1856232"/>
            <a:ext cx="0" cy="20116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0016" y="2057400"/>
            <a:ext cx="2011680" cy="2286000"/>
          </a:xfrm>
          <a:prstGeom prst="rect">
            <a:avLst/>
          </a:prstGeom>
          <a:solidFill>
            <a:srgbClr val="F4F6F9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2057400"/>
            <a:ext cx="20116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700016" y="2057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9744" y="2487168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/ Regression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05856" y="1856232"/>
            <a:ext cx="0" cy="20116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12864" y="2057400"/>
            <a:ext cx="2011680" cy="2286000"/>
          </a:xfrm>
          <a:prstGeom prst="rect">
            <a:avLst/>
          </a:prstGeom>
          <a:solidFill>
            <a:srgbClr val="F4F6F9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12864" y="2057400"/>
            <a:ext cx="2011680" cy="38404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6" name="Text 24"/>
          <p:cNvSpPr/>
          <p:nvPr/>
        </p:nvSpPr>
        <p:spPr>
          <a:xfrm>
            <a:off x="6912864" y="2057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22592" y="2487168"/>
            <a:ext cx="17922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analytics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components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18704" y="1856232"/>
            <a:ext cx="0" cy="20116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run on Spark Core — you get all of these just by adding one spark-sql dependency!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You Must Know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of Spark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416052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82296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06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computation triggered by an action (.count(), .collect()). One action = one job in the Spark UI.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6052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029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06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Acyclic Graph — Spark's execution plan showing step dependencies and optimization points.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984248"/>
            <a:ext cx="416052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1984248"/>
            <a:ext cx="50292" cy="8229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39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3500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tasks that can run without shuffling data between machines. Stages separated by shuffles.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984248"/>
            <a:ext cx="416052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984248"/>
            <a:ext cx="50292" cy="82296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039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35000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Redistributing data across executors. Very expensive — avoid when possible (groupBy, join, repartition).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916936"/>
            <a:ext cx="416052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916936"/>
            <a:ext cx="50292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28269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unit — one task processes one partition on one executor. Tasks within a stage run in parallel.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16936"/>
            <a:ext cx="416052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16936"/>
            <a:ext cx="50292" cy="8229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28269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of your dataset. More partitions = more parallelism. Rule: 2–4× number of executor cores.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849624"/>
            <a:ext cx="416052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849624"/>
            <a:ext cx="50292" cy="82296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21538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don't run until an action is called. Spark builds the full plan, optimizes, then executes.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849624"/>
            <a:ext cx="416052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849624"/>
            <a:ext cx="5029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92040" y="421538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how an RDD was built. Used to recover lost partitions from failures — no expensive replication.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&amp; Execution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Spark plans and runs your job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78992"/>
            <a:ext cx="15087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7899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(Java App)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04825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0" y="1536192"/>
            <a:ext cx="210312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1078992"/>
            <a:ext cx="1508760" cy="914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39112" y="107899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39112" y="204825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into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47872" y="1536192"/>
            <a:ext cx="210312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1078992"/>
            <a:ext cx="1508760" cy="91440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07899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58184" y="204825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tasks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executors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66944" y="1536192"/>
            <a:ext cx="210312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77256" y="1078992"/>
            <a:ext cx="1508760" cy="914400"/>
          </a:xfrm>
          <a:prstGeom prst="rect">
            <a:avLst/>
          </a:prstGeom>
          <a:solidFill>
            <a:srgbClr val="E3183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77256" y="107899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77256" y="204825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tasks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partitions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86016" y="1536192"/>
            <a:ext cx="210312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96328" y="1078992"/>
            <a:ext cx="1508760" cy="914400"/>
          </a:xfrm>
          <a:prstGeom prst="rect">
            <a:avLst/>
          </a:prstGeom>
          <a:solidFill>
            <a:srgbClr val="15803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96328" y="107899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96328" y="2048256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returns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633472"/>
            <a:ext cx="8321040" cy="192024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 Breakdown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017520"/>
            <a:ext cx="19202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3017520"/>
            <a:ext cx="1920240" cy="29260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017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one action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3675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multiple stages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06040" y="3017520"/>
            <a:ext cx="19202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06040" y="3017520"/>
            <a:ext cx="1920240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2606040" y="3017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9748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tasks (no shuffle)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697480" y="3675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Pipelined on same data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017520"/>
            <a:ext cx="19202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017520"/>
            <a:ext cx="1920240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3017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partition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3675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one executor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12280" y="3017520"/>
            <a:ext cx="19202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12280" y="3017520"/>
            <a:ext cx="1920240" cy="29260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Text 42"/>
          <p:cNvSpPr/>
          <p:nvPr/>
        </p:nvSpPr>
        <p:spPr>
          <a:xfrm>
            <a:off x="6812280" y="3017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03720" y="3364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of data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03720" y="3675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processes it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" y="164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04672" y="20116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RDDs &amp; Lazy Eval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· RDD transformations &amp; actions · Lazy evaluation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— The Entry Point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gateway into the Spark world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5212080" cy="24688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49377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org.apache.spark.sql.SparkSession;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SparkSession spark = SparkSession.builder()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.appName("MyFirstApp")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.master("local[*]")  // * = use all CPU cores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.config("spark.sql.shuffle.partitions", "4")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.getOrCreate();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stop Spark when done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spark.stop();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0644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.master() options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06440" y="1389888"/>
            <a:ext cx="29260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05472" y="13898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 thread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06440" y="1773936"/>
            <a:ext cx="29260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17739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"local[4]"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05472" y="17739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 threads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0" y="2157984"/>
            <a:ext cx="29260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1579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"local[*]"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05472" y="21579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cores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06440" y="2542032"/>
            <a:ext cx="29260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5420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"spark://..."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05472" y="2542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real cluster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06440" y="2962656"/>
            <a:ext cx="292608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06440" y="2962656"/>
            <a:ext cx="50292" cy="8046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304495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vs SparkContext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34670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Spark (&lt; 2.0) used SparkContext. SparkSession wraps it — always use SparkSession in modern code.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3822192"/>
            <a:ext cx="292608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806440" y="3822192"/>
            <a:ext cx="5029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390448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getOrCreate()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4206240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existing session if one exists. Safe to call multiple times.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is the single entry point for all Spark functionality since Spark 2.0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 — The Most Important Concept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plans first, acts second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 trips up EVERY beginner. Understand it deeply.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14630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636776"/>
            <a:ext cx="384048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38528"/>
            <a:ext cx="2670048" cy="129844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029968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rdd.filter(...)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rdd.map(...)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df.select(...)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310128"/>
            <a:ext cx="2670048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310128"/>
            <a:ext cx="50292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346704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yet!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records intent.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1417320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14630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Transforms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07608" y="1636776"/>
            <a:ext cx="384048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28" y="1938528"/>
            <a:ext cx="2670048" cy="129844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3419856" y="2029968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.groupBy(...)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3310128"/>
            <a:ext cx="2670048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0128" y="3310128"/>
            <a:ext cx="50292" cy="594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3419856" y="3346704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nothing runs.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DAG plan.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08776" y="1417320"/>
            <a:ext cx="438912" cy="438912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6" name="Text 24"/>
          <p:cNvSpPr/>
          <p:nvPr/>
        </p:nvSpPr>
        <p:spPr>
          <a:xfrm>
            <a:off x="6208776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39128" y="14630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Action!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08776" y="1938528"/>
            <a:ext cx="2670048" cy="1298448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29" name="Text 27"/>
          <p:cNvSpPr/>
          <p:nvPr/>
        </p:nvSpPr>
        <p:spPr>
          <a:xfrm>
            <a:off x="6318504" y="2029968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.count()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C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.saveAsTextFile()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08776" y="3310128"/>
            <a:ext cx="2670048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08776" y="3310128"/>
            <a:ext cx="50292" cy="59436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2" name="Text 30"/>
          <p:cNvSpPr/>
          <p:nvPr/>
        </p:nvSpPr>
        <p:spPr>
          <a:xfrm>
            <a:off x="6318504" y="3346704"/>
            <a:ext cx="2450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Spark executes!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run at once.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005072"/>
            <a:ext cx="832104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4005072"/>
            <a:ext cx="5029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08736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Lazy Evaluation Wins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389120"/>
            <a:ext cx="8119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optimizes the entire plan before running — it can skip steps, reorder ops, and combine operations for max efficiency. The Catalyst optimizer generates near-optimal execution code.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Transformations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operations that shape your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35204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words = sc.textFile("words.txt");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map() — transform each element into something else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JavaRDD&lt;Integer&gt; lengths = words.map(word -&gt; word.length());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filter() — keep only elements matching a condition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longWords = words.filter(w -&gt; w.length() &gt; 5);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flatMap() — each element can produce 0 or many results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allWords = words.flatMap(line -&gt;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Arrays.asList(line.split(" ")).iterator());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distinct() — removes duplicates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unique = allWords.distinct();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mapToPair() — creates key-value pairs (JavaPairRDD)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JavaPairRDD&lt;String,Integer&gt; pairs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allWords.mapToPair(w -&gt; new Tuple2&lt;&gt;(w, 1));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reduceByKey() — aggregate values per key (more efficient than groupByKey)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JavaPairRDD&lt;String,Integer&gt; counts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pairs.reduceByKey((a, b) -&gt; a + b);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run yet! They build the execution plan (DAG). An action triggers all of them together.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Actions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actual computation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5257800" cy="3182112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498348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count() — how many elements?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n = rdd.count();         // → 10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collect() — bring ALL data to driver (⚠ careful with big data!)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all = rdd.collect();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first() / take() — small samples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one   = rdd.first();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top5 = rdd.take(5);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reduce() — combine elements with an associative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 = intRdd.reduce((a, b) -&gt; a + b);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foreach() — run a function on each element (on executors)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rdd.foreach(System.out::println);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saveAsTextFile() — write to disk/HDFS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rdd.saveAsTextFile("output/results");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06440" y="1051560"/>
            <a:ext cx="2926080" cy="135331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1051560"/>
            <a:ext cx="50292" cy="135331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13385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collect() Warning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435608"/>
            <a:ext cx="27249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ALL data into driver memory. Fine for small datasets. On 1TB data? OutOfMemoryError. Always use take() or saveAsTextFile() for large results.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2487168"/>
            <a:ext cx="2926080" cy="11887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2487168"/>
            <a:ext cx="5029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5694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foreach() vs collect()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871216"/>
            <a:ext cx="2724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rdd.foreach(fn) runs on executors — no data to driver.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.collect().forEach() brings ALL data to driver first — avoid for big data.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3749040"/>
            <a:ext cx="292608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06440" y="3749040"/>
            <a:ext cx="50292" cy="7315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383133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execution happen?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4133088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you call an action. Everything before that is just building the plan.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you're not sure if something is expensive — check the Spark UI at localhost:4040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" y="164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04672" y="20116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&amp; Dataset&lt;T&gt;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APIs · Type safety · Encoders · Typed operations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— The Modern Structured API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database table, but distributed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Dataset&lt;Row&gt; — like a table in a relational database, but distributed across your cluster. This is what you'll use 90% of the time.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8321040" cy="1828800"/>
        </p:xfrm>
        <a:graphic>
          <a:graphicData uri="http://schemas.openxmlformats.org/drawingml/2006/table">
            <a:tbl>
              <a:tblPr/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patient_id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18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18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18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creatinine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18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district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18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P001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Ravi Kumar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45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1.2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Dharmapuri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P002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Meena Devi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62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2.8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Salem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P003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Arjun Nair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38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0.9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Dharmapuri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P004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Priya Siva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55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3.1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2"/>
                          </a:solidFill>
                        </a:rPr>
                        <a:t>Krishnagiri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34930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Schema-aware: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929384" y="349300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has a named type. Spark catches schema errors early.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54880" y="34930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SQL-ready: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72784" y="349300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a view and query with full SQL syntax.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3968496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Optimized: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929384" y="39684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optimizer rewrites your query for speed automatically.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54880" y="3968496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Interoperable: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72784" y="396849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CSV, JSON, Parquet, ORC, JDBC, and more.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into DataFrames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reads almost everything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3493008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CSV ─────────────────────────────────────────────────────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df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.option("header", "true")       // first row = column names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.option("inferSchema", "true")  // auto-detect types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.csv("data/patients.csv");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JSON ────────────────────────────────────────────────────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jsonDf = spark.read().json("data/records.json");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Parquet (best performance for big data) 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parDf = spark.read().parquet("data/warehouse/");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Explicit Schema (production recommended) 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org.apache.spark.sql.types.*;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StructType schema = new StructType(new StructField[]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StructField("id",     DataTypes.StringType,  false),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StructField("name",   DataTypes.StringType,  true),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StructField("salary", DataTypes.DoubleType,   true),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typed = spark.read().schema(schema).csv("data.csv");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Print schema and preview 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df.printSchema();  // shows column names and types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df.show(5);        // prints first 5 rows to console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is the recommended format — columnar, compressed, Spark reads it 10x faster than CSV. Always prefer Parquet in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Dataset&lt;T&gt;?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 meets distributed computing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is a strongly-typed, distributed collection of objects introduced in Spark 1.6. It combines the type safety of RDDs with the Catalyst optimizer benefits of DataFrames.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2670048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00200"/>
            <a:ext cx="2670048" cy="38404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0020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066544"/>
            <a:ext cx="2377440" cy="438912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(generics)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2377440" cy="438912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151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Catalyst optimizer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2377440" cy="438912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638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API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2377440" cy="438912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124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control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81528" y="2084832"/>
            <a:ext cx="164592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952" y="19385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1600200"/>
            <a:ext cx="2670048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600200"/>
            <a:ext cx="2670048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160020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2066544"/>
            <a:ext cx="2377440" cy="438912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optimized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2615184"/>
            <a:ext cx="2377440" cy="438912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6151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compile-time type safety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83280" y="3163824"/>
            <a:ext cx="2377440" cy="438912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1638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3712464"/>
            <a:ext cx="2377440" cy="438912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7124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SQL/analytics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16168" y="2084832"/>
            <a:ext cx="164592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19385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80760" y="1600200"/>
            <a:ext cx="2670048" cy="2834640"/>
          </a:xfrm>
          <a:prstGeom prst="rect">
            <a:avLst/>
          </a:prstGeom>
          <a:solidFill>
            <a:srgbClr val="F4F6F9"/>
          </a:solidFill>
          <a:ln w="19050">
            <a:solidFill>
              <a:srgbClr val="E3183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1600200"/>
            <a:ext cx="2670048" cy="38404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5" name="Text 33"/>
          <p:cNvSpPr/>
          <p:nvPr/>
        </p:nvSpPr>
        <p:spPr>
          <a:xfrm>
            <a:off x="6080760" y="1600200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066544"/>
            <a:ext cx="23774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0665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(your POJO)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17920" y="2615184"/>
            <a:ext cx="23774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61518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optimized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3163824"/>
            <a:ext cx="23774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16382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3712464"/>
            <a:ext cx="2377440" cy="438912"/>
          </a:xfrm>
          <a:prstGeom prst="rect">
            <a:avLst/>
          </a:prstGeom>
          <a:solidFill>
            <a:srgbClr val="FFEBE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371246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 ✅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6" name="Text 44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Dataset&lt;Row&gt;. Dataset&lt;T&gt; adds compile-time type checking on top. Performance is identical — Catalyst optimizer runs for both.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a Java Bean (POJO)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requires a properly structured Java class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5486400" cy="379476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521208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java.io.Serializable;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Rules for a valid Spark Java Bean: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1. Must implement Serializable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2. Must have a public no-args constructor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3. All fields must have public getters AND setters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Employee implements Serializable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 name;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 department;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 salary;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 age;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boolean active;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Employee() {}   // required!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 getName()       { return name;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 getDepartment() { return department;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 getSalary()     { return salary;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    getAge()        { return age;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boolean isActive()      { return active; }  // note: isX() not getX()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Setters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setName(String name)             { this.name = name;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setDepartment(String department) { this.department = department;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setSalary(double salary)         { this.salary = salary;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setAge(int age)                  { this.age = age;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setActive(boolean active)        { this.active = active;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87568" y="1051560"/>
            <a:ext cx="3044952" cy="15727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87568" y="1051560"/>
            <a:ext cx="50292" cy="15727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5824728" y="114300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Required Rules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24728" y="1472184"/>
            <a:ext cx="28437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Implement Serializable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Public no-args constructor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Public getters for all fields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Public setters for all fields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No inner/anonymous classes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87568" y="2724912"/>
            <a:ext cx="3044952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87568" y="2724912"/>
            <a:ext cx="5029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824728" y="2807208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Shortcut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24728" y="3108960"/>
            <a:ext cx="2843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@Data + @NoArgsConstructor from Lombok to auto-generate all boilerplate. Saves hundreds of lines.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87568" y="3703320"/>
            <a:ext cx="3044952" cy="64008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87568" y="3703320"/>
            <a:ext cx="50292" cy="64008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1" name="Text 19"/>
          <p:cNvSpPr/>
          <p:nvPr/>
        </p:nvSpPr>
        <p:spPr>
          <a:xfrm>
            <a:off x="5824728" y="3785616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Getter Rule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24728" y="4087368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fields use isX() not getX(). Spark encoder checks this specifically.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Encoders.bean() uses reflection to inspect getters/setters — missing any will cause runtime encoder errors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Encoders: How Spark Serializes Java 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JVM objects and Spark's internal binary format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27432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org.apache.spark.sql.Encoders;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org.apache.spark.sql.Encoder;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For Java Beans (POJOs with getters+setters) 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Encoder&lt;Employee&gt; empEncoder = Encoders.bean(Employee.class);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For primitive/wrapper types 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Encoder&lt;String&gt;  strEnc  = Encoders.STRING();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Encoder&lt;Integer&gt; intEnc  = Encoders.INT();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Encoder&lt;Double&gt;  dblEnc  = Encoders.DOUBLE();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Encoder&lt;Long&gt;    longEnc = Encoders.LONG();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For Java Serializable objects (fallback — slower) 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Encoder&lt;MyObj&gt; javaEnc = Encoders.javaSerialization(MyObj.class);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Avoid javaSerialization — prefer bean() or kryo()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For Kryo serialization (faster than Java, less safe) 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Encoder&lt;MyObj&gt; kryoEnc = Encoders.kryo(MyObj.class);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913632"/>
            <a:ext cx="2670048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913632"/>
            <a:ext cx="50292" cy="8046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9502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Encoders.bean()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" y="422452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Java POJOs with getters/setters. Generated code is highly optimized by Catalyst. Always prefer this for Java beans.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246120" y="3913632"/>
            <a:ext cx="2670048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3913632"/>
            <a:ext cx="50292" cy="8046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39502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Encoders.STRING()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.INT() .DOUBLE()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422452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primitive and wrapper types. Zero overhead. Always prefer these for simple typed Datasets over Rows.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080760" y="3913632"/>
            <a:ext cx="2670048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3913632"/>
            <a:ext cx="50292" cy="80467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488" y="395020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Encoders.kryo()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90488" y="422452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binary format. No schema inference. Use for complex objects that don't qualify as beans.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Java serialization, Encoders generate specialized JVM bytecode for each type — much faster and off-heap memory safe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Creating Dataset&lt;T&gt;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create a typed Dataset in Java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3456432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Encoder&lt;Employee&gt; encoder = Encoders.bean(Employee.class);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1: Read file directly as typed Dataset 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empDS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.option("header", "true")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.csv("employees.csv")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.as(encoder);              // &lt;── .as() converts DataFrame → typed Dataset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2: Convert existing DataFrame 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df = spark.read().csv("employees.csv");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typedDS = df.as(encoder);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3: From a Java List (testing/small data) 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List&lt;Employee&gt; list = Arrays.asList(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Employee("Alice", "Engineering", 90000.0, 30, true),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Employee("Bob",   "Finance",     75000.0, 35, false)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fromList = spark.createDataset(list, encoder);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Method 4: Convert RDD to Dataset 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JavaRDD&lt;Employee&gt; rdd = sc.parallelize(list);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fromRdd = spark.createDataset(rdd.rdd(), encoder);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617720"/>
            <a:ext cx="832104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4617720"/>
            <a:ext cx="50292" cy="59436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700016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001768"/>
            <a:ext cx="811987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pattern: read a DataFrame and immediately cast with .as(encoder). This gives you Catalyst optimization PLUS compile-time type safety. Method 1 is the production gold standard.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 Typed Operations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errors at compile time, not at 3 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3401568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employees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.option("header","true").csv("employees.csv")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.as(Encoders.bean(Employee.class));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Typed filter — compile-time checked 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senior = employees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.filter(e -&gt; e.getSalary() &gt; 80000 &amp;&amp; e.isActive());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Typed map — transform to a different type 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Dataset&lt;String&gt; names = employees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.map(e -&gt; e.getName().toUpperCase(), Encoders.STRING());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Typed reduce ─────────────────────────────────────────────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highestPaid = employees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.reduce((a, b) -&gt; a.getSalary() &gt; b.getSalary() ? a : b);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Convert to DataFrame for SQL/aggregations 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df = employees.toDF();  // lose type safety, gain SQL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Convert back to typed Dataset 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back = df.as(Encoders.bean(Employee.class));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590288"/>
          <a:ext cx="8321040" cy="64008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Typed Lambdas e.getSalary()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Untyped col("salary")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183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IDE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</a:rPr>
                        <a:t>✅  Full auto-complete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1837"/>
                          </a:solidFill>
                        </a:rPr>
                        <a:t>❌  No auto-complete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Refactoring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</a:rPr>
                        <a:t>✅  Safe rename fields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1837"/>
                          </a:solidFill>
                        </a:rPr>
                        <a:t>❌  String = breaks silently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Error timing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5803D"/>
                          </a:solidFill>
                        </a:rPr>
                        <a:t>✅  Compile 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31837"/>
                          </a:solidFill>
                        </a:rPr>
                        <a:t>❌  Runtime (job crash)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vs DataFrame vs Dataset&lt;T&gt;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8321040" cy="38862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237744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RDD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DataFrame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Dataset&lt;T&gt;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18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API 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Low-level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High-level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High-level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Type Safety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Yes (Java generics)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No (Row = untyped)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Yes (your POJO)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Performance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Good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Best (Catalyst)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Best (Catalyst)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SQL Support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Yes — full SQL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Partial (.toDF())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Schema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Yes — named columns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Yes — via Encoder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Java Lambdas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Yes — JavaRDD&lt;T&gt;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No typed lambdas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Yes — typed lambdas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Introduced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Spark 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Spark 1.3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Spark 1.6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Best For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Custom algorithms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Most structured tasks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Type-safe Java ETL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</a:rPr>
                        <a:t>Recommended?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Sometimes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✅ Yes (most cases)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✅ Yes (type safety)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and Dataset&lt;T&gt; use the same Catalyst optimizer — identical performance. The choice is purely about type safety vs flexibility.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" y="164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04672" y="20116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Variables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 &amp; Broadcast Variables — distributed state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counters and sums — write from workers, read at driver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 are write-only variables for workers. Only the driver can read the final value. Perfect for counters, sums, and tracking metrics across distributed tasks.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5394960" cy="320040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8249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68249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168249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65376"/>
            <a:ext cx="51206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org.apache.spark.util.LongAccumulator;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org.apache.spark.util.DoubleAccumulator;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Long Accumulator — for counts 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LongAccumulator errorCount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spark.sparkContext().longAccumulator("error_count");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LongAccumulator nullCount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spark.sparkContext().longAccumulator("null_count");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Double Accumulator — for sums 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DoubleAccumulator totalSalary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spark.sparkContext().doubleAccumulator("total_salary");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Use inside a distributed transformation 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employees.foreach(e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(e.getName() == null)         nullCount.add(1);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(e.getSalary() &lt; 0)           errorCount.add(1);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totalSalary.add(e.getSalary());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Read results at the DRIVER (after action completes) 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System.out.println("Errors:      " + errorCount.value());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System.out.println("Nulls:       " + nullCount.value());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System.out.println("Total salary: " + totalSalary.value());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61888" y="1572768"/>
            <a:ext cx="2770632" cy="15727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61888" y="1572768"/>
            <a:ext cx="50292" cy="157276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48" y="166420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48" y="1993392"/>
            <a:ext cx="256946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Write-only on executor side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Only driver can call .value()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Guaranteed correct only in actions (not transformations)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Can be named for Spark UI display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Reset with .reset() between jobs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61888" y="3236976"/>
            <a:ext cx="2770632" cy="89611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61888" y="3236976"/>
            <a:ext cx="50292" cy="8961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48" y="331927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Accumulator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9048" y="3621024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AccumulatorV2&lt;IN,OUT&gt; to create custom types — e.g., accumulate Lists, Maps, or complex domain objects.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61888" y="4206240"/>
            <a:ext cx="2770632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61888" y="4206240"/>
            <a:ext cx="50292" cy="56692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2" name="Text 20"/>
          <p:cNvSpPr/>
          <p:nvPr/>
        </p:nvSpPr>
        <p:spPr>
          <a:xfrm>
            <a:off x="6099048" y="428853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Transformation Warning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9048" y="4590288"/>
            <a:ext cx="25694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 in transformations may be wrong — Spark re-runs tasks on retry. Only trust accumulator values after actions.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accumulators for logging/metrics — not for computation. They are not meant for complex logic.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Variables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share large read-only data with all executors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variables send a read-only copy of data to every executor once, efficiently. Without broadcasting, Spark ships the variable with every task — extremely wasteful for large lookup tables.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5394960" cy="3493008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82496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682496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1682496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65376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org.apache.spark.broadcast.Broadcast;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Broadcast a lookup table (Map) 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String&gt; deptNames = new HashMap&lt;&gt;();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deptNames.put("ENG", "Engineering");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deptNames.put("FIN", "Finance");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deptNames.put("HR",  "Human Resources");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Broadcast&lt;Map&lt;String,String&gt;&gt; broadcastMap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spark.sparkContext().broadcast(deptNames, scala.reflect.ClassTag$.MODULE$.apply(Map.class));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Use in a typed Dataset map 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Dataset&lt;String&gt; enriched = employees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.map(e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fullDept = broadcastMap.value().getOrDefault(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e.getDepartment(), "Unknown");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e.getName() + " — " + fullDept;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Encoders.STRING());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Broadcast a List for filtering 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List&lt;Integer&gt; validIds = Arrays.asList(101, 202, 303, 404);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Broadcast&lt;List&lt;Integer&gt;&gt; broadcastIds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JavaSparkContext.fromSparkContext(spark.sparkContext())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.broadcast(validIds);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JavaRDD&lt;Integer&gt; filtered = numbersRdd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.filter(n -&gt; broadcastIds.value().contains(n));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Always unpersist when done 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broadcastMap.unpersist();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broadcastMap.destroy();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61888" y="1572768"/>
            <a:ext cx="2770632" cy="157276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61888" y="1572768"/>
            <a:ext cx="50292" cy="15727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48" y="166420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48" y="1993392"/>
            <a:ext cx="256946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Sent to each executor ONCE (not per task)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Cached in executor memory for reuse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Ideal: lookup tables, ML models, config maps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Much faster than closure capture for large objects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Reduces network shuffle significantly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61888" y="3236976"/>
            <a:ext cx="2770632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61888" y="3236976"/>
            <a:ext cx="50292" cy="5669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Text 16"/>
          <p:cNvSpPr/>
          <p:nvPr/>
        </p:nvSpPr>
        <p:spPr>
          <a:xfrm>
            <a:off x="6108192" y="32644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Broadcast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08192" y="3474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tasks × 50MB map = 50GB network transfer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61888" y="3895344"/>
            <a:ext cx="2770632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1888" y="3895344"/>
            <a:ext cx="50292" cy="5669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Text 20"/>
          <p:cNvSpPr/>
          <p:nvPr/>
        </p:nvSpPr>
        <p:spPr>
          <a:xfrm>
            <a:off x="6108192" y="392277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Broadcast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08192" y="41330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50MB sent once per executor. 100x+ faster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61888" y="4572000"/>
            <a:ext cx="2770632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61888" y="4572000"/>
            <a:ext cx="50292" cy="4754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6099048" y="46542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9048" y="4956048"/>
            <a:ext cx="2569464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dictionaries · ML model parameters · Config maps · Reference tables (&lt; 1GB)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broadcast.unpersist() to free executor memory. Call destroy() to remove from driver + executors permanently.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 &amp; Broadcast — Combined Example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data enrichment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37490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Setup: broadcast a lookup table, use accumulator for metrics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Map&lt;String,String&gt; deptLookup = loadDeptLookup();   // load from DB/file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Broadcast&lt;Map&lt;String,String&gt;&gt; broadcastDept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JavaSparkContext.fromSparkContext(spark.sparkContext()).broadcast(deptLookup);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LongAccumulator unknownDepts = spark.sparkContext().longAccumulator("unknown_depts");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LongAccumulator processedCount = spark.sparkContext().longAccumulator("processed");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Process the Dataset — uses BOTH broadcast and accumulator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Dataset&lt;String&gt; result = employees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.map(e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processedCount.add(1);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dept = broadcastDept.value().get(e.getDepartment());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(dept == null)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unknownDepts.add(1);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dept = "UNKNOWN";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e.getName() + "," + dept + "," + e.getSalary();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Encoders.STRING());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Trigger execution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result.write().mode(SaveMode.Overwrite).text("output/enriched");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metrics AFTER action completes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System.out.println("Processed: " + processedCount.value());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System.out.println("Unknown depts: " + unknownDepts.value());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broadcastDept.destroy();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— broadcast lookup + accumulator metrics — is extremely common in production ETL pipelines. Always read accumulators AFTER the action.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" y="164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04672" y="20116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&amp; Data Operations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· Outer · Semi · Cross · joinWith() for typed results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Joins in Spark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join types — know when to use each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416052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24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"inner"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72184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that match in BOTH tables. Most common. Drops non-matching rows from both sides.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6052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50292" cy="9601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247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"left_outer"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72184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left table + matching rows from right. NULL filled where no right match exists.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416052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148840"/>
            <a:ext cx="50292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"right_outer"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569464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right table + matching rows from left. NULL filled where no left match exists.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416052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48840"/>
            <a:ext cx="50292" cy="96012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221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"full_outer"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569464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tables. NULL filled on either side where no match exists.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246120"/>
            <a:ext cx="416052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246120"/>
            <a:ext cx="50292" cy="9601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"left_semi"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666744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left rows WHERE a match exists in right. Right columns NOT included in output. Like EXISTS in SQL.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246120"/>
            <a:ext cx="4160520" cy="9601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246120"/>
            <a:ext cx="50292" cy="9601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"cross"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666744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 — every left row paired with every right row. Use with extreme caution on large tables!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left_anti is also available: opposite of left_semi — returns left rows WHERE no match exists in right (like NOT EXISTS in SQL)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Code Examples — DataFrame &amp;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for all major join patterns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3767328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  employees   = /* ... */;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Dataset&lt;Department&gt; departments = /* ... */;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Standard DataFrame join 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inner = employees.join(departments,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employees.col("deptId").equalTo(departments.col("id")),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"inner");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Left outer join 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leftOuter = employees.join(departments,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employees.col("deptId").equalTo(departments.col("id")),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"left_outer");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Left semi — only employees that have a matching dept 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semi = employees.join(departments,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employees.col("deptId").equalTo(departments.col("id")),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"left_semi");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joinWith() — fully typed! Keeps BOTH types 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Dataset&lt;Tuple2&lt;Employee, Department&gt;&gt; typed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employees.joinWith(departments,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employees.col("deptId").equalTo(departments.col("id")),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"inner");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 both sides as typed objects — full type safety!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typed.map(t -&gt; t._1().getName() + " → " + t._2().getName(),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Encoders.STRING()).show();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Multiple join conditions 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multi = df1.join(df2,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df1.col("id").equalTo(df2.col("id"))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.and(df1.col("dept").equalTo(df2.col("dept"))),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"inner");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919472"/>
            <a:ext cx="832104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4919472"/>
            <a:ext cx="50292" cy="43891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00176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joinWith() — The Typed Join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303520"/>
            <a:ext cx="8119872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joinWith() returns Dataset&lt;Tuple2&lt;L,R&gt;&gt; — you get BOTH original typed objects. Access with ._1() and ._2(). This is the only join that preserves full type safety on both sides.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Joins — Performance Optimization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the shuffle on one side of a join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2578608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static org.apache.spark.sql.functions.*;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Auto broadcast (Spark decides — default threshold 10MB) 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autoJoined = largeEmployees.join(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smallDepts,   // Spark auto-broadcasts if &lt; spark.sql.autoBroadcastJoinThreshold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largeEmployees.col("deptId").equalTo(smallDepts.col("id")));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Explicit broadcast hint 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hinted = largeEmployees.join(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broadcast(smallDepts),   // &lt;── hint to Spark: broadcast this side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largeEmployees.col("deptId").equalTo(smallDepts.col("id")));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Configure threshold (default 10MB = 10485760 bytes) 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spark.conf().set("spark.sql.autoBroadcastJoinThreshold", "52428800"); // 50MB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Disable auto-broadcast if causing OOM 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spark.conf().set("spark.sql.autoBroadcastJoinThreshold", "-1");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767328"/>
            <a:ext cx="4160520" cy="144475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767328"/>
            <a:ext cx="4160520" cy="310896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7673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Sort-Merge Join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4114800"/>
            <a:ext cx="3931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Both sides shuffled to same partitions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Writes shuffle files to disk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High network I/O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O(N log N) sort + merge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767328"/>
            <a:ext cx="4160520" cy="144475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767328"/>
            <a:ext cx="4160520" cy="310896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7673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Join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4114800"/>
            <a:ext cx="3931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Small table sent to every executor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No shuffle needed for large table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No disk writes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</a:rPr>
              <a:t>Much faster for small-big joins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broadcast() when one side is &lt; 50-200MB. For very large joins, consider salting keys to handle data skew.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" y="164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04672" y="20116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&amp; Streaming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· Window functions · Structured Streaming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in Spark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SQL, get distributed execution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5394960" cy="3310128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1: Register DataFrame/Dataset as a SQL temp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employees.createOrReplaceTempView("employees");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departments.createOrReplaceTempView("departments");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2: Run ANY SQL — exactly like a database!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results = spark.sql(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e.department,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 COUNT(*)              AS headcount,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 ROUND(AVG(e.salary),2) AS avg_salary,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 SUM(CASE WHEN e.salary &gt; 100000 THEN 1 ELSE 0 END) AS high_earners,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  d.name                AS dept_name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"FROM employees e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"JOIN departments d ON e.deptId = d.id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"GROUP BY e.department, d.name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"HAVING COUNT(*) &gt; 5 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"ORDER BY avg_salary DESC"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results.show();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Step 3: Cast result back to typed Dataset if needed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Dataset&lt;DeptSummary&gt; typed = results.as(Encoders.bean(DeptSummary.class));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61888" y="1051560"/>
            <a:ext cx="2770632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61888" y="1051560"/>
            <a:ext cx="50292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099048" y="11338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Support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9048" y="143560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subqueries, window functions, CTEs, CASE WHEN, HAVING — HiveQL compatible.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61888" y="2167128"/>
            <a:ext cx="2770632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61888" y="2167128"/>
            <a:ext cx="50292" cy="10058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099048" y="2249424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Performance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9048" y="2551176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DataFrame API produce identical execution plans. Use whichever reads more clearly.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61888" y="3282696"/>
            <a:ext cx="2770632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61888" y="3282696"/>
            <a:ext cx="50292" cy="10058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48" y="336499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vs Global Views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9048" y="3666744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createOrReplaceTempView() = session-scoped.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createGlobalTempView() = shared across sessions.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freely mix SQL and DataFrame/Dataset APIs in the same application — intermediate SQL results can be immediately cast to typed Datasets.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in Spark SQL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without aggregating away rows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3310128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org.apache.spark.sql.expressions.Window;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org.apache.spark.sql.expressions.WindowSpec;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static org.apache.spark.sql.functions.*;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Define the window: partition by dept, order by salary desc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WindowSpec window = Window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.partitionBy("department")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.orderBy(col("salary").desc());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Apply multiple window functions 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ranked = employees.toDF()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.withColumn("rank",         rank().over(window))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.withColumn("dense_rank",   dense_rank().over(window))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.withColumn("row_number",   row_number().over(window))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.withColumn("prev_salary",  lag("salary", 1).over(window))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.withColumn("next_salary",  lead("salary", 1).over(window))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.withColumn("running_avg",  avg("salary").over(window))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.withColumn("running_sum",  sum("salary").over(window))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.withColumn("pct_of_max",   col("salary").divide(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max("salary").over(window)));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ranked.show();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498848"/>
            <a:ext cx="269748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4498848"/>
            <a:ext cx="50292" cy="2743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498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63624" y="44988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with gaps on ties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246120" y="4498848"/>
            <a:ext cx="269748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4498848"/>
            <a:ext cx="50292" cy="2743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44988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dense_rank()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98264" y="44988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without gaps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080760" y="4809744"/>
            <a:ext cx="269748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4809744"/>
            <a:ext cx="50292" cy="2743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48097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32904" y="480974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row number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11480" y="4809744"/>
            <a:ext cx="269748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809744"/>
            <a:ext cx="50292" cy="2743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8097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lag(col, 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63624" y="480974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 rows before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246120" y="5120640"/>
            <a:ext cx="269748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5120640"/>
            <a:ext cx="50292" cy="2743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5120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lead(col, n)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98264" y="51206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 rows after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080760" y="5120640"/>
            <a:ext cx="269748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5120640"/>
            <a:ext cx="50292" cy="2743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51206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sum/avg/max over()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32904" y="51206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aggregate</a:t>
            </a:r>
            <a:endParaRPr lang="en-US" sz="8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processing with the same DataFrame/Dataset 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 treats a live data stream as an unbounded table that keeps growing. You use the SAME DataFrame/Dataset API for both batch and streaming — Spark handles the incremental execution.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8321040" cy="3090672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1737360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10" name="Shape 8"/>
          <p:cNvSpPr/>
          <p:nvPr/>
        </p:nvSpPr>
        <p:spPr>
          <a:xfrm>
            <a:off x="950976" y="1737360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20240"/>
            <a:ext cx="804672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Read from Kafka stream 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rawStream = spark.readStream()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.format("kafka")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.option("kafka.bootstrap.servers", "broker:9092")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.option("subscribe", "employee-events")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.load();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Parse and transform — same API as batch! 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events = rawStream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.selectExpr("CAST(value AS STRING) as json")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.select(from_json(col("json"), schema).as("data"))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.select("data.*")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.filter(col("salary").gt(50000));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Aggregation with watermark (handle late data) 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agg = events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.withWatermark("eventTime", "10 minutes")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.groupBy(window(col("eventTime"), "5 minutes"), col("department"))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.agg(count("*").alias("count"), avg("salary").alias("avg_sal"));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Write stream to console / file / Kafka / database 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StreamingQuery query = agg.writeStream()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.outputMode("append")     // append | complete | update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.format("console")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.option("checkpointLocation", "/tmp/checkpoint")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.start();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query.awaitTermination();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4846320"/>
            <a:ext cx="2670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4846320"/>
            <a:ext cx="50292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846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35608" y="48463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rows added since last trigger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4846320"/>
            <a:ext cx="2670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4846320"/>
            <a:ext cx="50292" cy="38404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4846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70248" y="48463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 table output every trigger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4846320"/>
            <a:ext cx="2670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4846320"/>
            <a:ext cx="50292" cy="38404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846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04888" y="484632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that changed since last trigger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" y="164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04672" y="20116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Optimization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 · Persistence · Pitfalls · Best practices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Persistence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your data without recomputing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1755648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Cache in memory — lazy: triggers on first 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cached = employees.cache();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cached.count();    // forces cache to fill NOW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Persist with specific storage level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org.apache.spark.storage.StorageLevel;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employees.persist(StorageLevel.MEMORY_AND_DISK());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free memory when done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cached.unpersist();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944368"/>
            <a:ext cx="416052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944368"/>
            <a:ext cx="50292" cy="5669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2980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MEMORY_ONLY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" y="32369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Fastest. Pure RAM, deserialized Java objects. Data lost if no space — recomputed from lineage.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944368"/>
            <a:ext cx="416052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44368"/>
            <a:ext cx="50292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29809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MEMORY_AND_DISK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64608" y="32369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default. Spills to disk if RAM full. Slower fallback but never loses data.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602736"/>
            <a:ext cx="416052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602736"/>
            <a:ext cx="50292" cy="56692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" y="3639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DISK_ONLY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" y="38953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Slowest. Use only if RAM is very limited. All reads from disk.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602736"/>
            <a:ext cx="416052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02736"/>
            <a:ext cx="50292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3639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MEMORY_ONLY_SER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64608" y="38953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bytes in RAM — smaller footprint, slower to access. Good if GC pressure is high.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4261104"/>
            <a:ext cx="416052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4261104"/>
            <a:ext cx="50292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OFF_HEAP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" y="4553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Tungsten off-heap memory. Avoids JVM GC. Requires spark.memory.offHeap.enabled=true.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4261104"/>
            <a:ext cx="416052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4261104"/>
            <a:ext cx="50292" cy="56692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2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MEMORY_AND_DISK_SER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64608" y="4553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in memory, spills serialized to disk. Balance of memory + performance.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cache: ✅ Dataset used in 2+ actions  ✅ Iterative ML  ❌ Single use — wastes memory. Always unpersist() when done.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Beginner Pitfalls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everyone makes once — learn them now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7315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8" name="Shape 6"/>
          <p:cNvSpPr/>
          <p:nvPr/>
        </p:nvSpPr>
        <p:spPr>
          <a:xfrm>
            <a:off x="512064" y="1197864"/>
            <a:ext cx="402336" cy="402336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197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0881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collect() on large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24128" y="136245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df.collect()  // all 10GB → driver RAM → crash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4128" y="156362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df.show(20)   // just preview  OR  df.write()...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874520"/>
            <a:ext cx="832104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1874520"/>
            <a:ext cx="50292" cy="73152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2020824"/>
            <a:ext cx="402336" cy="402336"/>
          </a:xfrm>
          <a:prstGeom prst="ellipse">
            <a:avLst/>
          </a:prstGeom>
          <a:solidFill>
            <a:srgbClr val="E8521A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191109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count() repeatedly — triggers a full job each 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24128" y="218541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long n=df.count(); long m=filtered.count();  // 2 full jobs!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24128" y="238658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df.cache(); // cache first, then call multiple actions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697480"/>
            <a:ext cx="832104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697480"/>
            <a:ext cx="50292" cy="7315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" y="2843784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27340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Non-serializable objects captured in lambdas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24128" y="300837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MyService svc = new MyService();  rdd.map(x -&gt; svc.process(x)); // NPE on executor!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24128" y="320954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Implement Serializable, or use broadcast variables for large objects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520440"/>
            <a:ext cx="832104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520440"/>
            <a:ext cx="50292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512064" y="3666744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24128" y="35570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Spark is lazy — adding print statements to debug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24128" y="383133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rdd.map(x -&gt; { System.out.println(x); return x; }); // nothing prints!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24128" y="403250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rdd.map(...).foreach(System.out::println); // foreach is an action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343400"/>
            <a:ext cx="832104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4343400"/>
            <a:ext cx="50292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Shape 34"/>
          <p:cNvSpPr/>
          <p:nvPr/>
        </p:nvSpPr>
        <p:spPr>
          <a:xfrm>
            <a:off x="512064" y="4489704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" y="4489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24128" y="43799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groupByKey() instead of reduceByKey() — groupByKey shuffles ALL data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24128" y="465429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18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pairs.groupByKey().map(...)         // sends all values over network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24128" y="485546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pairs.reduceByKey((a,b) -&gt; a+b)     // pre-aggregates per partition first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Spark UI at localhost:4040 before any optimization — it shows exactly which stages are slow and why.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" y="164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04672" y="20116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Word Count in Java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999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Hello World of distributed computing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 — Classic Spark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word frequency in under 15 lines of Java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361188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JavaSparkContext sc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JavaSparkContext.fromSparkContext(spark.sparkContext());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1: Read and tokenize (NO shuffle)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lines = sc.textFile("input.txt");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JavaRDD&lt;String&gt; words = lines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.flatMap(line -&gt; Arrays.asList(line.split("\s+")).iterator());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SHUFFLE BOUNDARY — data repartitioned by word key here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 2: Count each word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JavaPairRDD&lt;String, Integer&gt; counts = words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.mapToPair(word -&gt; new Tuple2&lt;&gt;(word.toLowerCase(), 1))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.reduceByKey((a, b) -&gt; a + b);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 by frequency descending and print top results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.mapToPair(t -&gt; new Tuple2&lt;&gt;(t._2, t._1))   // swap (word,count) → (count,word)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.sortByKey(false)                             // sort by count descending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.mapToPair(t -&gt; new Tuple2&lt;&gt;(t._2, t._1))   // swap back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.take(20)                                     // take top 20 — ACTION triggers DAG!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.forEach(t -&gt; System.out.println(t._1 + " -&gt; " + t._2));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773168"/>
            <a:ext cx="4023360" cy="53035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4773168"/>
            <a:ext cx="50292" cy="5303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82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Stage 1: textFile → flatMap → mapToPair (pipelined, no shuffle)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Shuffle: data redistribution by word key between stages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Stage 2: reduceByKey aggregates per partition, then merges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4773168"/>
            <a:ext cx="4114800" cy="53035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4773168"/>
            <a:ext cx="50292" cy="53035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488289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takeOrder() is better than sortByKey().take() for top-N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Use countByValue() as a simpler alternative for small datasets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</a:rPr>
              <a:t>For very large word counts, write to Parquet not collect()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— Production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Dataset&lt;T&gt; → Cache → Analyze → Write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3977640"/>
          </a:xfrm>
          <a:prstGeom prst="rect">
            <a:avLst/>
          </a:prstGeom>
          <a:solidFill>
            <a:srgbClr val="1E2A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61288"/>
            <a:ext cx="118872" cy="118872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161288"/>
            <a:ext cx="118872" cy="118872"/>
          </a:xfrm>
          <a:prstGeom prst="ellipse">
            <a:avLst/>
          </a:prstGeom>
          <a:solidFill>
            <a:srgbClr val="E0B952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1161288"/>
            <a:ext cx="118872" cy="118872"/>
          </a:xfrm>
          <a:prstGeom prst="ellipse">
            <a:avLst/>
          </a:prstGeom>
          <a:solidFill>
            <a:srgbClr val="52C9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44168"/>
            <a:ext cx="804672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SparkSession spark = SparkSession.builder()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.appName("EmployeeAnalytics").master("local[*]").getOrCreate();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Define explicit schema (production: never use inferSchema)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StructType schema = new StructType(new StructField[]{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StructField("id",     DataTypes.StringType,  false),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StructField("name",   DataTypes.StringType,  true),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StructField("dept",   DataTypes.StringType,  true),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StructField("salary", DataTypes.DoubleType,   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Read → immediately cast to typed Dataset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employees = spark.read()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.schema(schema).option("header","true").csv("employees.csv")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.as(Encoders.bean(Employee.class));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Cache because we use it multiple times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employees.cache();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Broadcast small lookup 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Broadcast&lt;Map&lt;String,String&gt;&gt; deptLookup = sc.broadcast(loadDeptMap());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Typed filtering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Dataset&lt;Employee&gt; active = employees.filter(Employee::isActive);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6. SQL aggregation on registered 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active.createOrReplaceTempView("active_emp");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Dataset&lt;Row&gt; summary = spark.sql(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dept, COUNT(*) cnt, ROUND(AVG(salary),2) avg FROM active_emp GROUP BY dept");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7. Write to Parquet partitioned by dept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summary.write().mode(SaveMode.Overwrite).partitionBy("dept").parquet("output/");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employees.unpersist();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spark.stop();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4754880"/>
            <a:ext cx="50292" cy="2926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— explicit schema → .as(encoder) → cache → broadcast lookup → typed ops + SQL → partitioned Parquet — is production gold standard.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from 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8321040" cy="228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" cy="32918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05156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07899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solves big data by distributing computation across many machines using in-memory processing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435608"/>
            <a:ext cx="8321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435608"/>
            <a:ext cx="50292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14356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46304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is your entry point — always start here. It wraps SparkContext and all Spark APIs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819656"/>
            <a:ext cx="8321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819656"/>
            <a:ext cx="50292" cy="3291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18196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184708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are lazy. Actions trigger execution. This is the most important concept in Spark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203704"/>
            <a:ext cx="8321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203704"/>
            <a:ext cx="50292" cy="32918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" y="220370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231136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Dataset&lt;T&gt; with Encoders.bean() for type-safe distributed Java operations — compile-time safety wins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587752"/>
            <a:ext cx="8321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587752"/>
            <a:ext cx="50292" cy="32918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25877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261518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 = distributed counters (write on executors, read on driver). Broadcast = shared read-only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971800"/>
            <a:ext cx="8321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2971800"/>
            <a:ext cx="50292" cy="3291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" y="29718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2999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joinWith() returns Dataset&lt;Tuple2&lt;L,R&gt;&gt; — the only join that preserves full type safety on both sides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355848"/>
            <a:ext cx="8321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355848"/>
            <a:ext cx="50292" cy="32918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" y="335584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338328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strategically: only when Dataset is used in 2+ actions. Always call unpersist() when done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739896"/>
            <a:ext cx="8321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739896"/>
            <a:ext cx="50292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" y="373989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376732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collect() large datasets to the driver. Use write() to save or show(n) to preview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4123944"/>
            <a:ext cx="8321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480" y="4123944"/>
            <a:ext cx="50292" cy="3291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" y="41239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0120" y="4151376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&gt; CSV for big data. Use explicit StructType schemas in production — never inferSchema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507992"/>
            <a:ext cx="8321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1480" y="4507992"/>
            <a:ext cx="50292" cy="32918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" y="45079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60120" y="45354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Spark UI (localhost:4040) is your best debugging tool — check it before any optimization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" y="164592"/>
            <a:ext cx="493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731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45720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84832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building, keep breaking things,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keep checking localhost:4040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364992"/>
            <a:ext cx="78638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364992"/>
            <a:ext cx="50292" cy="3474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649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spark.apache.org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0" y="33649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Official documentation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3785616"/>
            <a:ext cx="78638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785616"/>
            <a:ext cx="50292" cy="3474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856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Spark, 2nd Ed — O'Reilly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0" y="37856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Best book resource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206240"/>
            <a:ext cx="78638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206240"/>
            <a:ext cx="50292" cy="3474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2062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spark.apache.org/docs/latest/api/java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0" y="4206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Java API Javadoc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626864"/>
            <a:ext cx="78638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626864"/>
            <a:ext cx="50292" cy="3474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6268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databricks.com/learn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46268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Free training &amp; tutorials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Spark with Java — Complete Guide</dc:title>
  <dc:subject>PptxGenJS Presentation</dc:subject>
  <dc:creator>PptxGenJS</dc:creator>
  <cp:lastModifiedBy>PptxGenJS</cp:lastModifiedBy>
  <cp:revision>1</cp:revision>
  <dcterms:created xsi:type="dcterms:W3CDTF">2026-03-22T15:10:21Z</dcterms:created>
  <dcterms:modified xsi:type="dcterms:W3CDTF">2026-03-22T15:10:21Z</dcterms:modified>
</cp:coreProperties>
</file>