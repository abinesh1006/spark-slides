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DataFrame Operations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joins, pivoting, higher-order functions, and nested data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Join Strategies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join types, cross joins, and self joins in Java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877824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877824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855878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 join types: inner, left, right, full, left_semi, left_anti, cross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inner = emp.join(dept,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emp.col("dept_id").equalTo(dept.col("id")), "inner");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Left anti-join: employees WITHOUT a matching department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noDepDept = emp.join(dept,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emp.col("dept_id").equalTo(dept.col("id")), "left_anti");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Self-join: find employees who earn more than their manager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e1 = emp.as("e1");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e2 = emp.as("e2");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earners = e1.join(e2,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e1.col("manager_id").equalTo(e2.col("id"))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.and(e1.col("salary").gt(e2.col("salary"))),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"inner")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.select(e1.col("name").as("employee"),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e1.col("salary").as("emp_salary"),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e2.col("name").as("manager"),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e2.col("salary").as("mgr_salary"));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Multiple join conditions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multi = orders.join(products,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orders.col("product_id").equalTo(products.col("id"))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.and(orders.col("region").equalTo(products.col("region"))),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"inner");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Cross join (cartesian product — use with extreme care!)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cartesian = small1.crossJoin(small2);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&amp; Unpivot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DataFrames from long to wide and back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PIVOT: long → wide  (month as rows → month as columns)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pivot = sales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.groupBy("product")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.pivot("month", Arrays.asList("Jan","Feb","Mar","Apr"))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.agg(sum("revenue").alias("rev"));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Result: product | Jan_rev | Feb_rev | Mar_rev | Apr_rev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explicit values (slower — Spark must scan for all values)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autoPivot = sales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.groupBy("product").pivot("month")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.agg(sum("revenue"));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UNPIVOT (stack): wide → long  (Spark 3.4+ stack function)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unpivoted = pivot.selectExpr(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"product",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"stack(4,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 'Jan', Jan,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 'Feb', Feb,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 'Mar', Mar,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 'Apr', Apr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") as (month, revenue)"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Multiple aggregations in pivot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multiPivot = sales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.groupBy("product").pivot("region")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.agg(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sum("revenue").alias("total"),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count("*").alias("orders")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pass explicit pivot values to avoid a first-pass data scan.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distinct values = very wide DataFrame — memory issues.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generates column names as value_aggfunction (e.g. Jan_sum).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stack() is the idiomatic Spark SQL way to unpivot (melt).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Spark &lt; 3.4, use selectExpr with multiple when() columns.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Data &amp; Complex Types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arrays, maps, and structs in Java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static org.apache.spark.sql.functions.*;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ARRAY operations 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explode: one row per array element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df.select(col("id"), explode(col("tags")).as("tag"));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collect_list / collect_set: aggregate rows into an array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df.groupBy("dept").agg(collect_list("name").as("members"));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array_contains, size, sort_array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df.filter(array_contains(col("tags"), "java"))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.withColumn("tag_count", size(col("tags")))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.withColumn("sorted_tags", sort_array(col("tags")));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Higher-order: transform (like map on array)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df.withColumn("upper_tags",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transform(col("tags"), t -&gt; upper(t)));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Higher-order: filter array elements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df.withColumn("java_tags",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filter(col("tags"), t -&gt; t.equalTo("java")));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MAP operations 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df.select(map_keys(col("metadata")), map_values(col("metadata")));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df.withColumn("version", col("metadata").getItem("version"));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STRUCT operations 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df.withColumn("address",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struct(col("street"), col("city"), col("zip")));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df.select(col("address.city"), col("address.zip"));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77840" y="128016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explode() creates one row per element — increases row count!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posexplode() adds a position index alongside the element.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explode_outer() preserves nulls (like LEFT JOIN vs INNER JOIN).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functions (transform, filter, aggregate) avoid UDFs on arrays.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struct() combines columns into a nested struct for compact schemas.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nested fields with dot notation: col("address.city").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Deep Dive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Ranking, running totals, lead/lag, and frame specs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org.apache.spark.sql.expressions.Window;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org.apache.spark.sql.expressions.WindowSpec;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static org.apache.spark.sql.functions.*;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Ranking ───────────────────────────────────────────────────────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WindowSpec rankWin = Window.partitionBy("dept")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.orderBy(desc("salary"));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df.withColumn("rank",       rank().over(rankWin))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.withColumn("dense_rank", dense_rank().over(rankWin))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.withColumn("row_number", row_number().over(rankWin))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.withColumn("ntile_4",    ntile(4).over(rankWin));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Running totals / cumulative 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WindowSpec runWin = Window.partitionBy("dept")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.orderBy("hire_date")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.rowsBetween(Window.unboundedPreceding(), Window.currentRow());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df.withColumn("running_total", sum("salary").over(runWin));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Lead / Lag: look ahead/behind 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WindowSpec timeWin = Window.partitionBy("user_id")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.orderBy("event_time");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df.withColumn("prev_event", lag("event_type",  1).over(timeWin))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.withColumn("next_event", lead("event_type", 1).over(timeWin))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.withColumn("time_since_last",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col("event_time").minus(lag("event_time",1).over(timeWin)));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Sliding window (range) 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WindowSpec rangeWin = Window.partitionBy("product")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.orderBy("sale_date")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.rangeBetween(-7L * 86400, 0);  // 7-day rolling window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df.withColumn("rolling_7d_sum", sum("amount").over(rangeWin));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leaves gaps after ties; dense_rank() does not.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is always unique — assign positions in an order.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rowsBetween: physical row offsets. rangeBetween: value-based offsets.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never reduce rows — always output same row count.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column must be numeric or timestamp for rangeBetween.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windows trigger full partition sort — partition by wisely.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Deep Dive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transactions, schema evolution, CDC, and Z-Ordering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Delta adds reliability to the data lake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502920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73152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 (Parquet files)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Parquet files in object storage (S3, ADLS, GCS)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502920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57400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305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 (_delta_log/)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JSON commit files — the source of truth for all changes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502920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26080"/>
            <a:ext cx="73152" cy="713232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99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Files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3101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snapshots of the log every 10 commits — speeds up reads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502920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94760"/>
            <a:ext cx="73152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67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Client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1788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Java/Scala/Python library that reads log to construct consistent snapshot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1188720"/>
            <a:ext cx="32918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50992" y="1261872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2161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 isolation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1965960"/>
            <a:ext cx="32918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50992" y="203911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9933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35040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files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2743200"/>
            <a:ext cx="32918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50992" y="281635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7706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35040" y="3063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bad writes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77840" y="3520440"/>
            <a:ext cx="32918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50992" y="3593592"/>
            <a:ext cx="274320" cy="274320"/>
          </a:xfrm>
          <a:prstGeom prst="ellipse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3547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3504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version/timestamp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77840" y="4297680"/>
            <a:ext cx="32918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50992" y="4370832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43251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Batch+Stream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35040" y="4617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Operations in Java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merge, optimize, and vacuum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io.delta.tables.DeltaTable;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Schema evolution: add new columns automatically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df.write().format("delta")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.option("mergeSchema", "true")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.mode("append").save("/delta/events");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MERGE (SCD Type 1 upsert — most common CDC pattern)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DeltaTable target = DeltaTable.forPath(spark, "/delta/customers");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target.as("t")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.merge(newDF.as("s"), "t.customer_id = s.customer_id")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.whenMatchedUpdate(condition,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HashMap&lt;String,String&gt;(){{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put("name",    "s.name");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put("email",   "s.email");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put("updated", "current_timestamp()");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.whenMatchedDelete("s.is_deleted = true")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.whenNotMatchedInsertAll()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.execute();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OPTIMIZE: compact small files (run periodically)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DeltaTable.forPath(spark, "/delta/events")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.optimize().executeCompaction();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Z-ORDER: co-locate related data for faster queries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DeltaTable.forPath(spark, "/delta/events")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.optimize().executeZOrderBy("user_id", "event_date");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VACUUM: remove files older than retention period (default 7 days)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DeltaTable.forPath(spark, "/delta/events")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.vacuum(168); // 168 hours = 7 days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mergeSchema allows adding columns — enforced by default.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is ACID — concurrent writers are handled safely.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Z-ORDER improves file skipping by sorting on frequently filtered columns.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runs compaction — call after large batch loads.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is irreversible — always verify retention period before running.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spark.databricks.delta.retentionDurationCheck.enabled=false only in testing.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– Change Data Feed (CDF)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row-level changes: inserts, updates, deletes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Enable CDF on the table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"ALTER TABLE delta.'/delta/orders'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"SET TBLPROPERTIES (delta.enableChangeDataFeed = true)"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— Or set at write time 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df.write().format("delta")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.option("delta.enableChangeDataFeed", "true")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.mode("overwrite").save("/delta/orders");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Read changes since a 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changes = spark.read().format("delta")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.option("readChangeFeed",  "true")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.option("startingVersion", "5")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.load("/delta/orders");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_change_type column: insert | update_preimage | update_postimage | delete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changes.filter(col("_change_type").equalTo("insert")).show();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Read changes since a timestamp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recentChanges = spark.read().format("delta")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.option("readChangeFeed", "true")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.option("startingTimestamp", "2024-01-01 00:00:00")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.load("/delta/orders");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Stream changes into downstream table (real-time CDC pipeline)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spark.readStream().format("delta")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.option("readChangeFeed", "true")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.option("startingVersion", "0")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.load("/delta/orders")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.writeStream().format("delta")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.option("checkpointLocation", "/checkpoints/cdc")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.outputMode("append")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.start("/delta/order_audit");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77840" y="128016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 stores change records in the _change_data/ directory.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generates TWO rows: update_preimage (before) and update_postimage (after).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building audit logs, real-time aggregations, and materialized views.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CDF reads only process new changes per micro-batch.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 adds ~10–20% write overhead — only enable where needed.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Spark Applications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tests, integration tests, and Spark testing best practices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Testing Pyramid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testing for reliable Spark apps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188720"/>
            <a:ext cx="8778240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280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 (~70%)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16276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Java functions — no Spark — Test transformation logic as pure functions. Fast, isolated, no SparkSession needed. Most of your tests should be at this level.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2377440"/>
            <a:ext cx="6858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4688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 (~25%)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81635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Local[2] SparkSession — in-memory — Test full pipelines with SparkSession in local mode. Use small synthetic datasets. Verify schema, transformations, and output correctness.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3566160"/>
            <a:ext cx="4572000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657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Tests  (~5%)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40050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cluster — full data — Run against a real cluster with production-like data. Test performance, data quality, and cluster behavior. Expensive — run in CI/CD only.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Spark Transformations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SparkSession in local mode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557784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57784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535838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org.apache.spark.sql.*;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org.junit.jupiter.api.*;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static org.apache.spark.sql.functions.*;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java.util.*;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@TestInstance(TestInstance.Lifecycle.PER_CLASS)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SalesTransformationTest {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SparkSession spark;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@BeforeAll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setUp()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spark = SparkSession.builder()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.appName("TestSuite")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.master("local[2]")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.config("spark.sql.shuffle.partitions", "2")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.config("spark.ui.enabled", "false")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.getOrCreate();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testEnrichWithBonus()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Arrange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List&lt;Row&gt; data = Arrays.asList(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RowFactory.create("Alice", 100000.0, "Engineering"),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RowFactory.create("Bob",   80000.0,  "Marketing")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StructType schema = new StructType()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.add("name",   DataTypes.StringType)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.add("salary", DataTypes.DoubleType)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.add("dept",   DataTypes.StringType);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Dataset&lt;Row&gt; input = spark.createDataFrame(data, schema);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Act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Dataset&lt;Row&gt; result = SalesTransformation.addBonus(input);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Assert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Row alice = result.filter("name = 'Alice'").first();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Assertions.assertEquals(10000.0, alice.getDouble(3), 0.01);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Assertions.assertEquals(2, result.count());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@AfterAll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tearDown() { spark.stop();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52160" y="128016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local[2] — always at least 2 threads for realistic behavior.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shuffle.partitions=2 for tests — avoids 200-partition overhead.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Spark UI (ui.enabled=false) to speed up test startup.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PER_CLASS lifecycle shares SparkSession across tests (much faster).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RowFactory.create() to build test rows programmatically.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on specific column values, schema, and row count.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Data Quality Testing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schemas and test data quality assertions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Schema Assertion Helpers 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assertSchema(Dataset&lt;Row&gt; df, StructType expected)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Assertions.assertEquals(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expected.simpleString(),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df.schema().simpleString(),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"Schema mismatch"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assertColumnExists(Dataset&lt;Row&gt; df, String colName)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Assertions.assertTrue(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Arrays.asList(df.columns()).contains(colName),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"Column '" + colName + "' not found"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Data Quality Checks 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void testNoNullsInKeyColumns()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nullCount = result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.filter(col("user_id").isNull()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.or(col("event_time").isNull()))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.count();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Assertions.assertEquals(0, nullCount,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"Key columns must not be null");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void testNoNegativeAmounts()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badRows = result.filter(col("amount").lt(0)).count();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Assertions.assertEquals(0, badRows);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void testRowCountIncreased()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Assertions.assertTrue(result.count() &gt;= input.count());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void testDeduplication()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total   = result.count();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distinct = result.dropDuplicates("user_id","event_date").count();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Assertions.assertEquals(total, distinct, "Duplicates found!");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schemas explicitly — a renamed column breaks downstream jobs silently.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tests are as important as transformation logic tests.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 tests with @ParameterizedTest + @CsvSource for edge cases.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Great Expectations or Deequ (AWS) for large-scale DQ at runtime.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DQ checks as Spark DataFrame assertions in production pipelines too.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Structured Streaming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processing, triggers, exactly-once, and multi-stream ops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Streaming Operations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windows, flatMapGroupsWithState, and arbitrary state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877824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877824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855878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org.apache.spark.sql.streaming.*;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org.apache.spark.api.java.function.*;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Session Windows 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Group events within 10-min inactivity gaps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sessions = events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.withWatermark("event_time", "30 minutes")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.groupBy(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session_window(col("event_time"), "10 minutes"),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col("user_id"))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.agg(count("*").alias("events"),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sum("amount").alias("session_value"));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flatMapGroupsWithState: full custom state machine 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Track order lifecycle state per order_id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events.as(Encoders.bean(OrderEvent.class))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.groupByKey(e -&gt; e.getOrderId(), Encoders.STRING())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.flatMapGroupsWithState(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OutputMode.Append(),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GroupStateTimeout.ProcessingTimeTimeout(),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(String orderId,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Iterator&lt;OrderEvent&gt; events,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GroupState&lt;OrderState&gt; state) -&gt;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Initialize state if first time seen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OrderState current = state.exists()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? state.get() : new OrderState(orderId);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Process incoming events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while (events.hasNext())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current.process(events.next());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Set timeout: expire state after 1hr inactivity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state.setTimeoutDuration("1 hour");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(current.isComplete())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state.remove();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Collections.singletonList(current.toRow()).iterator();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state.update(current);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Collections.emptyIterator();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 Encoders.bean(OrderState.class))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.writeStream().format("delta").start("/delta/orders_complete");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Stream-Stream Joins &amp; Trigger Modes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two live streams and controlling micro-batch timing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Stream-Stream Join 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Match impressions with clicks within 1 hour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impressions = spark.readStream()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.format("kafka").option("subscribe", "impressions").load()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.withWatermark("imp_time", "1 hour");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clicks = spark.readStream()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.format("kafka").option("subscribe", "clicks").load()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.withWatermark("click_time", "30 minutes");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attributed = impressions.join(clicks,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expr("imp_id = click_imp_id AND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"click_time &gt;= imp_time AND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"click_time &lt;= imp_time + INTERVAL 1 HOUR"),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"leftOuter");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Trigger Modes 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Micro-batch every 30 seconds (default if omitted = as fast as possible)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query.trigger(Trigger.ProcessingTime("30 seconds"))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Once: run exactly once then stop (scheduled batch using streaming API)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query.trigger(Trigger.Once())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Available-Now: process all available data, then stop (Spark 3.3+)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query.trigger(Trigger.AvailableNow())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Continuous (experimental): sub-millisecond latency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query.trigger(Trigger.Continuous("1 second"))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Stream-stream joins require watermarks on BOTH sides to bound state.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leftOuter join emits late results when watermark advances past the window.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Trigger.Once() is perfect for cost-efficient scheduled incremental loads.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AvailableNow() is the modern replacement for Once() — better parallelism.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 is experimental — avoid in production for now.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queries share the same SparkSession and resource pool.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Processing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 and idempotency in streaming pipelines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4206240" cy="15544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88720"/>
            <a:ext cx="4206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persists offsets and state to HDFS/S3 after each micro-batch. On restart, resumes from last checkpoint — no data loss.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926080"/>
            <a:ext cx="4206240" cy="15544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2926080"/>
            <a:ext cx="420624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63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Sinks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" y="34747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Sinks must handle duplicate writes gracefully. Delta Lake, Kafka (exactly-once), and JDBC with unique keys are idempotent.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206240" cy="15544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188720"/>
            <a:ext cx="42062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Replayability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1737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must be replayable: Kafka (offset-based), files (listing-based), Delta (version-based). Pure sockets are NOT replayable.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4206240" cy="15544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926080"/>
            <a:ext cx="4206240" cy="73152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063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(Write-Ahead Log)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34747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2.x streaming used WAL. Spark Structured Streaming uses checkpoint + idempotent writes — no WAL needed.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4663440"/>
            <a:ext cx="877824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690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2608" y="4956048"/>
            <a:ext cx="8558784" cy="-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query.writeStream().option("checkpointLocation", "s3://bucket/ckpt/job1")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MLlib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model serving, and custom transformers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 Engineering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scaling, imputing, and feature selection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org.apache.spark.ml.feature.*;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Categorical Encoding 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One-Hot Encoding (requires StringIndexer first)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StringIndexer si = new StringIndexer()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.setInputCol("country").setOutputCol("country_idx")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.setHandleInvalid("keep");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OneHotEncoder ohe = new OneHotEncoder()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.setInputCol("country_idx").setOutputCol("country_vec");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Numeric Scaling 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 scaler = new StandardScaler()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.setInputCol("features").setOutputCol("scaled")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.setWithMean(true).setWithStd(true);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MinMaxScaler mmScaler = new MinMaxScaler()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.setInputCol("features").setOutputCol("norm_features");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Imputation ─────────────────────────────────────────────────────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Imputer imputer = new Imputer()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.setInputCols(new String[]{"age","salary"})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.setOutputCols(new String[]{"age_imp","salary_imp"})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.setStrategy("median");  // mean | median | mode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Feature Selection 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ChiSqSelector selector = new ChiSqSelector()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.setNumTopFeatures(20)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.setFeaturesCol("features")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.setLabelCol("label")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.setOutputCol("selected_features");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Text Features 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Tokenizer tok = new Tokenizer()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.setInputCol("text").setOutputCol("words");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HashingTF htf = new HashingTF()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.setInputCol("words").setOutputCol("raw_features")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.setNumFeatures(10000);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IDF idf = new IDF()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.setInputCol("raw_features").setOutputCol("tfidf");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handle invalid/unseen categories with setHandleInvalid("keep").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requires a fit step — it learns mean/std from training data.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ChiSqSelector works for classification tasks — picks most predictive features.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is the workhorse for text classification problems.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/ FastText produce dense embeddings — better for deep learning.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Bucketizer / QuantileDiscretizer convert continuous to categorical features.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Hyperparameter Tuning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cross-validation, and grid search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org.apache.spark.ml.evaluation.*;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org.apache.spark.ml.tuning.*;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Evaluation Metrics 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Binary Classification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BinaryClassificationEvaluator binEval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BinaryClassificationEvaluator()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.setLabelCol("label")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.setMetricName("areaUnderROC"); // or areaUnderPR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Multi-class Classification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MulticlassClassificationEvaluator multiEval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MulticlassClassificationEvaluator()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.setMetricName("f1"); // accuracy | weightedPrecision | weightedRecall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Regression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RegressionEvaluator regEval = new RegressionEvaluator()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.setMetricName("rmse"); // mae | r2 | mse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auc = binEval.evaluate(predictions);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System.out.println("AUC-ROC: " + auc);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Hyperparameter Grid Search with Cross-Validation 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GBTClassifier gbt = new GBTClassifier()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.setLabelCol("label").setFeaturesCol("features");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ParamMap[] grid = new ParamGridBuilder()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.addGrid(gbt.maxDepth(),       new int[]{3, 5, 8})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.addGrid(gbt.maxIter(),        new int[]{50, 100, 200})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.addGrid(gbt.stepSize(),       new double[]{0.05, 0.1, 0.2})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.addGrid(gbt.subsamplingRate(),new double[]{0.7, 0.9})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   // 3 × 3 × 3 × 2 = 54 models!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CrossValidator cv = new CrossValidator()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.setEstimator(new Pipeline().setStages(new PipelineStage[]{gbt}))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.setEvaluator(binEval)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.setEstimatorParamMaps(grid)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.setNumFolds(5)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.setParallelism(4);  // Train 4 models in parallel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CrossValidatorModel best = cv.fit(trainDF);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77840" y="128016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setParallelism() on CrossValidator trains multiple folds concurrently.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TrainValidationSplit is faster than CrossValidator (1 split vs k-fold).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smaller grids first; then narrow range around best values.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best.avgMetrics and best.bestModel expose the best CV results.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evaluate on a HELD-OUT test set after tuning — never on validation.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GraphX – Graph Processing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Vertices, edges, Pregel, and graph algorithms at scale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GraphX – Distributed Graph Computing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and querying graphs in Spark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548640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48640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526694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org.apache.spark.graphx.*;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org.apache.spark.api.java.*;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scala.Tuple2;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scala.reflect.ClassTag;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Build vertex RDD: (vertexId: Long, attribute)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JavaRDD&lt;Tuple2&lt;Object, String&gt;&gt; verticesRDD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jsc.parallelize(Arrays.asList(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Tuple2&lt;&gt;((Object)1L, "Alice"),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Tuple2&lt;&gt;((Object)2L, "Bob"),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Tuple2&lt;&gt;((Object)3L, "Carol"),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Tuple2&lt;&gt;((Object)4L, "Dave")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Build edge RDD: Edge(srcId, dstId, attribute)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JavaRDD&lt;Edge&lt;String&gt;&gt; edgesRDD = jsc.parallelize(Arrays.asList(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Edge&lt;&gt;(1L, 2L, "friend"),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Edge&lt;&gt;(2L, 3L, "colleague"),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Edge&lt;&gt;(3L, 4L, "friend"),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Edge&lt;&gt;(1L, 4L, "friend")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Create Graph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ClassTag&lt;String&gt; vTag = ClassTag$.MODULE$.apply(String.class);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ClassTag&lt;String&gt; eTag = ClassTag$.MODULE$.apply(String.class);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Graph&lt;String, String&gt; graph = Graph.apply(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verticesRDD.rdd(), edgesRDD.rdd(),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"unknown", vTag, eTag);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Basic queries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System.out.println("Vertices: " + graph.vertices().count());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System.out.println("Edges: "    + graph.edges().count());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 In-degree / Out-degree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graph.inDegrees().toJavaRDD().collect()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.forEach(t -&gt; System.out.println(t._1() + " → " + t._2()));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0" y="128016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GraphX is Scala-first — Java API wraps Scala Graph via implicits.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Vertices: RDD[(VertexId, VD)] where VertexId is always Long.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Edges: RDD[Edge[ED]] with src, dst VertexIds and edge attribute.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triplets() joins vertex and edge data for enriched traversals.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GraphFrames (DataFrames-based) provides a friendlier Java API.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Graph Algorithms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PageRank, connected components, shortest paths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org.apache.spark.graphx.lib.*;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PageRank ──────────────────────────────────────────────────────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Static PageRank: fixed number of iterations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Graph&lt;Object, Double&gt; prGraph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PageRank.run(graph, 10, 0.15, vTag, eTag);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prGraph.vertices().toJavaRDD()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.sortBy(t -&gt; -(Double)t._2(), true, 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.take(10)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.forEach(t -&gt; System.out.println(t._1()+" → "+t._2()));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Connected Components 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Graph&lt;Object, String&gt; ccGraph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ConnectedComponents.run(graph, vTag, eTag);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ccGraph.vertices().toJavaRDD()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.collect()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.forEach(t -&gt; System.out.println(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"Vertex " + t._1() + " in component " + t._2()));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Strongly Connected Components 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Graph&lt;Object, String&gt; sccGraph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StronglyConnectedComponents.run(graph, 10, vTag, eTag);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Triangle Count 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Graph&lt;Object, String&gt; triGraph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TriangleCount.run(graph, vTag, eTag);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GraphFrames API (friendlier for Java) 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 org.graphframes.*;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GraphFrame gf = GraphFrame.apply(verticesDF, edgesDF);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gf.pageRank().resetProbability(0.15).maxIter(10).run();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gf.connectedComponents().run();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gf.shortestPaths().landmarks(Arrays.asList("Alice","Bob")).run();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measures node importance based on incoming link quality.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Components finds isolated subgraphs — fraud ring detection.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GraphFrames for new code — cleaner Java API, SQL support.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Pregel API enables custom iterative graph algorithms (SSSP, BFS, etc.).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GraphX works on RDD layer — no Catalyst optimization.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large-scale graphs (billions of edges) consider GraphBolt or Neptune.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DevOps for Spark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Packaging, GitHub Actions, Docker, and DataOps patterns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Production Spark JARs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Shade, fat JARs, and dependency management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Maven Shade Plugin: build a fat JAR --&gt;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&lt;plugin&gt;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&lt;groupId&gt;org.apache.maven.plugins&lt;/groupId&gt;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&lt;artifactId&gt;maven-shade-plugin&lt;/artifactId&gt;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&lt;version&gt;3.5.1&lt;/version&gt;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&lt;executions&gt;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&lt;execution&gt;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&lt;phase&gt;package&lt;/phase&gt;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&lt;goals&gt;&lt;goal&gt;shade&lt;/goal&gt;&lt;/goals&gt;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&lt;configuration&gt;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&lt;createDependencyReducedPom&gt;false&lt;/createDependencyReducedPom&gt;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&lt;filters&gt;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&lt;filter&gt;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&lt;artifact&gt;*:*&lt;/artifact&gt;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&lt;excludes&gt;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&lt;exclude&gt;META-INF/*.SF&lt;/exclude&gt;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&lt;exclude&gt;META-INF/*.DSA&lt;/exclude&gt;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&lt;/excludes&gt;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&lt;/filter&gt;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&lt;/filters&gt;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&lt;relocations&gt;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&lt;!-- Relocate conflicting deps --&gt;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&lt;relocation&gt;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&lt;pattern&gt;com.google.guava&lt;/pattern&gt;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&lt;shadedPattern&gt;shaded.com.google.guava&lt;/shadedPattern&gt;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&lt;/relocation&gt;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&lt;/relocations&gt;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&lt;transformers&gt;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&lt;transformer implementation=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"org.apache.maven.plugins.shade.resource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.ManifestResourceTransformer"&gt;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&lt;mainClass&gt;com.example.MyApp&lt;/mainClass&gt;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&lt;/transformer&gt;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&lt;/transformers&gt;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&lt;/configuration&gt;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&lt;/execution&gt;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&lt;/executions&gt;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&lt;/plugin&gt;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77840" y="128016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spark-core, spark-sql as &lt;scope&gt;provided&lt;/scope&gt; — cluster has them.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 conflicting libraries (Guava, Jackson) to avoid ClassNotFound.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signature files (*.SF, *.DSA) or JAR will fail to load.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mvn dependency:tree to find transitive conflicts.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thin JARs + cluster-side dependency management for large projects.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Spark plugin or SBT Assembly are popular alternatives.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test, build, and deploy for Spark apps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.github/workflows/spark-ci.yml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Spark CI/CD Pipeline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    { branches: [main, develop]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pull_request: { branches: [main]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test-and-build: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Set up JDK 17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actions/setup-java@v4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 { java-version: '17', distribution: 'temurin'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Cache Maven packages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actions/cache@v3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path: ~/.m2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key: ${{ runner.os }}-m2-${{ hashFiles('**/pom.xml') }}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Run unit tests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mvn test -Dtest="*Test" -DfailIfNoTests=false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Build fat JAR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mvn package -DskipTests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Upload JAR artifact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actions/upload-artifact@v4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 { name: spark-app, path: target/*-shaded.jar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deploy-to-cluster: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needs: test-and-build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if: github.ref == 'refs/heads/main'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Submit to Kubernetes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spark-submit --master k8s://...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--conf spark.kubernetes.container.image=$IMAGE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local:///opt/spark/jars/app.jar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~/.m2 to dramatically reduce CI build times.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test job from deploy job — deploy only on main branch.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environment secrets for cluster credentials (KUBECONFIG, etc.).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integration test stage with a local Spark cluster in Docker.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JAR to artifact registry (Nexus, JFrog, S3) for versioning.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 PR for testing; trigger on merge to main for deploy.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Performance Tuning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Tungsten, AQE internals, skew handling, and GC tuning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Tungsten Execution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Off-heap memory, bytecode generation, and SIMD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4206240" cy="15544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88720"/>
            <a:ext cx="73152" cy="155448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off-heap binary data directly — avoids Java object overhead and GC pressure. Objects stored in compact binary rows.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926080"/>
            <a:ext cx="4206240" cy="15544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2926080"/>
            <a:ext cx="73152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63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Cache-Aware Computation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4747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and data structures exploit memory hierarchy. Hash maps and sorting use CPU cache lines efficiently.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206240" cy="15544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188720"/>
            <a:ext cx="73152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(Codegen)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737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generates optimized JVM bytecode at runtime for expression evaluation — eliminates virtual dispatch overhead.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4206240" cy="15544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926080"/>
            <a:ext cx="73152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063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Reader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4747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and ORC files read in column batches (ColumnarBatch) — SIMD-friendly, 10× faster than row-by-row for analytics.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Tungsten is automatic — but you can inspect via df.explain("codegen")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Query Execution (AQE) Internals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Spark 3.x automatically optimizes at runtime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Enable all AQE features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spark.conf().set("spark.sql.adaptive.enabled",                    "true");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spark.conf().set("spark.sql.adaptive.coalescePartitions.enabled", "true");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spark.conf().set("spark.sql.adaptive.skewJoin.enabled",           "true");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spark.conf().set("spark.sql.adaptive.localShuffleReader.enabled", "true");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Tune coalescing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spark.conf().set("spark.sql.adaptive.advisoryPartitionSizeInBytes", "128m");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spark.conf().set("spark.sql.adaptive.coalescePartitions.minPartitionNum","1");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Tune skew handling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spark.conf().set("spark.sql.adaptive.skewJoin.skewedPartitionFactor",    "5");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spark.conf().set("spark.sql.adaptive.skewJoin.skewedPartitionThresholdInBytes", "256m");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Force broadcast switch at runtime (if table shrinks after filter)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spark.conf().set("spark.sql.adaptive.autoBroadcastJoinThreshold", "30m");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Inspect AQE decisions in explain output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df.join(other, "id")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.groupBy("dept").agg(sum("salary"))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.explain("formatted");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Look for: AdaptiveSparkPlan, ShuffleQueryStage, CustomShuffleReader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AQE re-optimizes the plan after each shuffle boundary using real statistics.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coalescing: combines many small shuffle partitions → reduces tasks.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join: automatically splits oversized partitions into smaller pieces.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switch: converts SortMergeJoin → BroadcastHashJoin if small enough.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shuffle reader: avoids network when data is already local.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AQE adds plan re-optimization overhead — disable for sub-second queries.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Data Skew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Salting, repartitioning, and AQE skew join techniques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877824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877824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855878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Identify skew 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df.groupBy("user_id").count()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.orderBy(desc("count")).show(10);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top partition &gt;&gt; avg by 10×+, you have skew!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Technique 1: Salting (manual) 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SALT = 10;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random salt to skewed 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saltedLeft = bigDF.withColumn("salt",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(col("user_id").multiply(SALT))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.plus(rand().multiply(SALT).cast("int")));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Explode small side to match all salt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explodedRight = smallDF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.withColumn("salt_arr",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array(IntStream.range(0,SALT)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.mapToObj(i -&gt; lit(i)).toArray(Column[]::new)))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.select(col("*"), explode(col("salt_arr")).as("salt"));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Join on composite 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result = saltedLeft.join(explodedRight,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saltedLeft.col("user_id").equalTo(explodedRight.col("user_id"))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.and(saltedLeft.col("salt").equalTo(explodedRight.col("salt"))));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Technique 2: AQE auto-skew (Spark 3+, zero code change) 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spark.conf().set("spark.sql.adaptive.skewJoin.enabled", "true");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Spark automatically splits partitions &gt; 5× median or &gt; 256MB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Technique 3: Isolate hot keys 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hotKeys = spark.createDataset(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Arrays.asList("user_999","user_1000"), Encoders.STRING());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hotData    = df.join(broadcast(hotKeys),"user_id");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normalData = df.join(hotKeys,"user_id","left_anti");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GC Tuning for Spark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GC pressure for better executor performance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43000"/>
          <a:ext cx="8778240" cy="3749040"/>
        </p:xfrm>
        <a:graphic>
          <a:graphicData uri="http://schemas.openxmlformats.org/drawingml/2006/table">
            <a:tbl>
              <a:tblPr/>
              <a:tblGrid>
                <a:gridCol w="3840480"/>
                <a:gridCol w="4937760"/>
              </a:tblGrid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JVM Flag / Config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-XX:+UseG1GC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GC — best default choice for Spark executors (Java 9+)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-XX:G1HeapRegionSize=16m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regions reduce GC overhead for big heap allocations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-XX:MaxGCPauseMillis=500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max GC pause — G1 will try to stay below this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-XX:InitiatingHeapOccupancyPercent=35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concurrent GC earlier to avoid full GC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-XX:+ParallelRefProcEnabled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reference processing — reduces GC pause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-XX:+PrintGCDetails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GC events — analyze with GCViewer or GCEasy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spark.executor.extraJavaOptions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to pass JVM flags in spark-submit config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85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spark.memory.offHeap.enabled=true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storage to off-heap — drastically reduces GC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Security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encryption, access control, and compliance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Security Configuration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authentication, and data access control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Kerberos Authentication (YARN/HDFS) 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spark.conf().set("spark.kerberos.principal", "spark@REALM.COM");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spark.conf().set("spark.kerberos.keytab",    "/etc/security/spark.keytab");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Wire Encryption (in transit) 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spark.conf().set("spark.authenticate",               "true");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spark.conf().set("spark.authenticate.secret",        "my-secret-key");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spark.conf().set("spark.network.crypto.enabled",     "true");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spark.conf().set("spark.io.encryption.enabled",      "true");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SSL for Web UI 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spark.conf().set("spark.ssl.ui.enabled",    "true");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spark.conf().set("spark.ssl.ui.keyStore",   "/path/to/keystore.jks");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spark.conf().set("spark.ssl.ui.keyPassword","keypass");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Data Masking / Column-Level Security 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Mask PII fields before writing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masked = rawDF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.withColumn("ssn",   regexp_replace(col("ssn"),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"^(\\d{3}-\\d{2}-)(\\d{4})$", "***-**-$2"))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.withColumn("email", regexp_replace(col("email"),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"^(.{2}).*(@.*)", "$1***$2"))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.withColumn("cc_num", lit("****-****-****-"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substring(col("cc_num"), -4, 4)));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Row-Level Security via filter 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currentUser = System.getenv("CURRENT_USER");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authorized = df.filter(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col("owner_id").equalTo(currentUser)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.or(col("is_public").equalTo(true)));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77840" y="128016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enable wire encryption in production clusters.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Kerberos is the standard for Hadoop-ecosystem authentication.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Apache Ranger or AWS Lake Formation for fine-grained access control.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security: mask PII before writing to data lake.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all data access with spark.eventLog.enabled + log aggregation.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GDPR/CCPA: use Delta Lake column mapping to support right-to-erasure.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Architectures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Lambda, Kappa, Lakehouse, and modern data platform patterns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Architecture with Spark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Speed layers unified with a serving layer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87782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(Kafka / S3 / RDBMS)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4297680" cy="10058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965960"/>
            <a:ext cx="4297680" cy="73152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75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LAYER (Spark Batch)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reprocessing nightly. High accuracy,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latency (hours). Parquet on S3/HDFS.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965960"/>
            <a:ext cx="4297680" cy="10058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965960"/>
            <a:ext cx="4297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075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LAYER (Spark Streaming)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377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incremental view. Low latency (seconds).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 replaced by batch view.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3246120"/>
            <a:ext cx="8778240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3246120"/>
            <a:ext cx="877824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558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 (Druid / Cassandra / Redshift / Delta)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703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batch + real-time views. Serves low-latency queries to dashboards and APIs.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297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Drawback: Two codebases to maintain. Kappa Architecture eliminates the batch layer.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evolution: Delta Lake + Spark + catalog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87782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125272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→ Spark Streaming → Delta  |  Batch: JDBC/S3 → Spark → Delta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011680"/>
            <a:ext cx="8778240" cy="713232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 (Raw)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12140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as-is, append-only, full history retained. Schema on read.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" y="2880360"/>
            <a:ext cx="8778240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53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(Cleaned)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99008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Deduplicated, validated, joined to dimensions. Type-enforced Delta tables.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" y="3749040"/>
            <a:ext cx="8778240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822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(Business)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385876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business metrics, wide tables, optimized for BI tools &amp; ML.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" y="46451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enablers: Delta Lake (ACID) + Apache Iceberg/Hudi  •  Unity Catalog / Apache Polaris  •  dbt for transforms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Data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real-time pipeline with Kafka and Delta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877824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877824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855878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Complete event-driven order processing pipeline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OrderPipeline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throws Exception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SparkSession spark = SparkSession.builder()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.appName("OrderPipeline")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.config("spark.sql.extensions",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"io.delta.sql.DeltaSparkSessionExtension")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.getOrCreate();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INGEST: Kafka → Bronze Delta table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spark.readStream()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.format("kafka")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.option("kafka.bootstrap.servers", "kafka:9092")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.option("subscribe", "orders")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.option("startingOffsets", "latest")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.load()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.selectExpr("CAST(value AS STRING) AS raw_json",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"timestamp AS kafka_ts",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"partition", "offset")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.writeStream()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.format("delta")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.option("checkpointLocation", "/ckpt/bronze_orders")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.outputMode("append")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.start("/delta/bronze/orders");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PROCESS: Bronze → Silver (clean + enrich)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spark.readStream().format("delta")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.load("/delta/bronze/orders")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.select(from_json(col("raw_json"), orderSchema).as("o"))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.select("o.*")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.filter(col("amount").gt(0).and(col("user_id").isNotNull()))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.join(broadcast(spark.read().table("dim_users")), "user_id")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.writeStream()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.format("delta")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.option("checkpointLocation", "/ckpt/silver_orders")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.outputMode("append")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.start("/delta/silver/orders");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spark.streams().awaitAnyTermination();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Connect &amp; Future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3.5, Spark 4.0, remote connections, and what's next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Connect – Remote Spark Client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client connecting to a remote Spark server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530352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303520" cy="256032"/>
          </a:xfrm>
          <a:prstGeom prst="rect">
            <a:avLst/>
          </a:prstGeom>
          <a:solidFill>
            <a:srgbClr val="1C3050"/>
          </a:solidFill>
          <a:ln w="12700">
            <a:solidFill>
              <a:srgbClr val="1C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508406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Spark Connect: connect to a remote Spark server via gRPC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Available since Spark 3.4+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SparkSession spark = SparkSession.builder()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.remote("sc://spark-server:15002")  // gRPC endpoint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.getOrCreate();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exactly like local SparkSession!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 df = spark.read()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.format("delta").load("s3://bucket/data");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df.filter(col("amount").gt(100))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.groupBy("category").agg(sum("amount"))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.show();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Benefits: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No Spark JARs needed on client side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Client can be any language (Java, Python, Go, .NET)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Client upgrades independent of server upgrades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Run from Jupyter / IDE without local Spark install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Better multi-tenancy and resource isolation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Python (PySpark Connect) 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from pyspark.sql import SparkSession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spark = SparkSession.builder.remote("sc://server:15002").getOrCreate()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Start Spark Connect Server 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./sbin/start-connect-server.sh --packages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org.apache.spark:spark-connect_2.12:3.5.0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Connect decouples the client from the cluster — like JDBC for Spark.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IDE-based development, notebooks, and microservices.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buffer-based API enables cross-language clients.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driver process on client machine — all execution on the server.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become the default mode of interaction in Spark 4.0.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Connect v2 is built on Spark Connect.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3.5 &amp; 4.0 – What's New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features every Java developer should know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429768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88720"/>
            <a:ext cx="47548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44475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261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Connect GA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5910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thin client officially production-ready for all languages.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2148840"/>
            <a:ext cx="429768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2148840"/>
            <a:ext cx="47548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40487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221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SQL Compliance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25511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SQL standard compliance, new SQL functions and syntax.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3108960"/>
            <a:ext cx="429768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3108960"/>
            <a:ext cx="47548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3649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State Store V2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35112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RocksDB-backed state store — handle terabytes of state.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4069080"/>
            <a:ext cx="429768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4069080"/>
            <a:ext cx="47548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3251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142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User-Defined Table Functions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44714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PandasUDTF: return a DataFrame from a Python UDTF.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188720"/>
            <a:ext cx="429768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188720"/>
            <a:ext cx="475488" cy="82296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44475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1261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2.13 as Default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57800" y="15910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Scala 2.12 support — cleaner dependency tree.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148840"/>
            <a:ext cx="429768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148840"/>
            <a:ext cx="475488" cy="82296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40487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2221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Collation Support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57800" y="25511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collations for case-insensitive string comparisons in SQL.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108960"/>
            <a:ext cx="429768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108960"/>
            <a:ext cx="475488" cy="82296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3649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57800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Type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257800" y="35112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variant type — like JSON but schema-enforced.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4069080"/>
            <a:ext cx="429768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4069080"/>
            <a:ext cx="475488" cy="82296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43251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57800" y="4142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Column Values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257800" y="44714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DEFAULT values in CREATE TABLE — like RDBMS.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REF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Cheat Sheets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configs, and API reference at a glance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Functions – Cheat Sheet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commonly used org.apache.spark.sql.functions.*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4206240" cy="347472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97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Functions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concat, concat_ws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7556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substring, length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9568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trim, ltrim, rtrim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1579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upper, lower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23591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regexp_replace, regexp_extract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25603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split, initcap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" y="27614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lpad, rpad, repeat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14300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197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 Functions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5544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to_date, to_timestamp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17556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date_add, date_sub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9568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datediff, months_between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21579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year, month, dayofweek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3591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date_trunc, date_format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5603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from_unixtime, unix_timestamp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27614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current_date, current_timestamp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82880" y="32004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3200400"/>
            <a:ext cx="4206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2552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Functions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40" y="36118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round, ceil, floor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38130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abs, pow, sqrt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0040" y="40142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log, log2, log10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" y="42153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rand, randn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44165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greatest, least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0040" y="4617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percentile_approx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0040" y="48188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corr, covar_pop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32004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200400"/>
            <a:ext cx="42062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2552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00600" y="36118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count, countDistinct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00600" y="38130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sum, avg, mean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00600" y="40142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min, max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00600" y="42153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first, last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00600" y="44165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stddev, variance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00600" y="4617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collect_list, collect_set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00600" y="48188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approx_count_distinct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Spark Config Reference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impactful settings for performance and reliability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420624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88720"/>
            <a:ext cx="4206240" cy="329184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43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910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spark.executor.memory = 4g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8562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spark.driver.memory = 2g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spark.executor.memoryOverhead = 1g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3865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spark.memory.fraction = 0.75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6517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spark.memory.offHeap.enabled = true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20624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188720"/>
            <a:ext cx="4206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243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5910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spark.executor.cores = 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8562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spark.executor.instances = 20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1214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spark.sql.shuffle.partitions = 200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23865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spark.default.parallelism = 400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26517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spark.dynamicAllocation.enabled = true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3108960"/>
            <a:ext cx="420624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108960"/>
            <a:ext cx="42062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163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35112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spark.sql.adaptive.enabled = true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" y="37764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spark.sql.autoBroadcastJoinThreshold = 50m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" y="40416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spark.serializer = KryoSerializer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" y="43068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spark.sql.files.maxPartitionBytes = 128m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" y="4572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spark.sql.adaptive.skewJoin.enabled = true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108960"/>
            <a:ext cx="420624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108960"/>
            <a:ext cx="4206240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163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35112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spark.task.maxFailures = 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37764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spark.stage.maxConsecutiveAttempts = 8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40416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spark.streaming.backpressure.enabled = true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43068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spark.eventLog.enabled = true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4572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spark.sql.streaming.checkpointFileManagerClass = ...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API – Quick Reference Card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used methods at a glance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2834640" cy="32004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9786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1508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spark.read().csv(path)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" y="17647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spark.read().json(path)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20208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spark.read().parquet(path)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" y="227685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spark.read().table(name)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" y="25328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spark.read().format(fmt).load(path)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14300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143000"/>
            <a:ext cx="28346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19786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508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df.select(cols)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10128" y="17647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df.filter(condition)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20208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df.withColumn(name, expr)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227685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df.drop(colName)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25328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df.withColumnRenamed(old, new)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114300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143000"/>
            <a:ext cx="28346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119786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27648" y="1508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df.groupBy(col).agg(fns)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27648" y="17647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df.rollup(cols).agg(fns)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27648" y="20208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df.cube(cols).agg(fns)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27648" y="227685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df.pivot(col).agg(fns)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27648" y="25328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df.summary(stats)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301752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3017520"/>
            <a:ext cx="283464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307238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2608" y="33832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df.join(other, on, how)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2608" y="36393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df.crossJoin(other)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2608" y="38953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df.union(other)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92608" y="415137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df.intersect(other)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92608" y="4407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df.except(other)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0" y="301752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3017520"/>
            <a:ext cx="283464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307238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310128" y="33832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df.show(n)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10128" y="36393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df.collect()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10128" y="38953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df.count()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310128" y="415137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df.write().format(f).save(p)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10128" y="4407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df.write().mode(m).saveAsTable(t)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17920" y="301752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3017520"/>
            <a:ext cx="283464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27648" y="307238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327648" y="33832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df.printSchema()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27648" y="36393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df.schema()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27648" y="38953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df.dtypes()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327648" y="415137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27648" y="4407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df.explain(mode)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Spark Interview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expert interviewers ask — and how to answer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877824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73152" cy="566928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difference between reduceByKey and groupByKey?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reduceByKey performs a local combine (map-side) before shuffle — much less data transferred. groupByKey sends all values across network first, then groups — expensive.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" y="1801368"/>
            <a:ext cx="877824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801368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288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Explain lazy evaluation and why it matters.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0299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Transformations build a DAG but don't execute until an action is called. This allows Catalyst to optimize the entire plan holistically before execution.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459736"/>
            <a:ext cx="877824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459736"/>
            <a:ext cx="73152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87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data skew and how do you fix it?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883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One partition has far more data than others. Solutions: salting the key, AQE skew join (Spark 3+), broadcasting small side, or isolating hot keys.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3118104"/>
            <a:ext cx="877824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3118104"/>
            <a:ext cx="73152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45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When would you use RDD over DataFrame?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3467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RDD for unstructured data, custom serialization, or operations not available in DataFrame API. DataFrame for all structured/analytics workloads — Catalyst optimizes them.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3776472"/>
            <a:ext cx="877824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776472"/>
            <a:ext cx="73152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0390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Explain the difference between cache() and persist().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005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cache() = persist(MEMORY_ONLY). persist() lets you choose the storage level: MEMORY_AND_DISK, OFF_HEAP, etc. Always unpersist() when done.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2880" y="4434840"/>
            <a:ext cx="877824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4434840"/>
            <a:ext cx="73152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4622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AQE and what problems does it solve?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Adaptive Query Execution re-optimizes the query plan at runtime using actual shuffle statistics — fixes bad partition counts, skew joins, and SortMerge vs Broadcast join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Congratulations!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 Spark Expert!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Architecture · RDDs · DataFrames · Spark SQL · Streaming · MLlib · Deployment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73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Advanced Ops · Delta Lake · Testing · Advanced Streaming · GraphX · Security · Architectures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apache.org/spark  •  delta.io  •  spark.apache.org/docs/latest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Spark for Java – Advanced &amp; Expert Topics (Part 2)</dc:title>
  <dc:subject>PptxGenJS Presentation</dc:subject>
  <dc:creator>PptxGenJS</dc:creator>
  <cp:lastModifiedBy>PptxGenJS</cp:lastModifiedBy>
  <cp:revision>1</cp:revision>
  <dcterms:created xsi:type="dcterms:W3CDTF">2026-03-22T15:10:51Z</dcterms:created>
  <dcterms:modified xsi:type="dcterms:W3CDTF">2026-03-22T15:10:51Z</dcterms:modified>
</cp:coreProperties>
</file>